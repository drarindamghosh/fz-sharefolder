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147480939" r:id="rId2"/>
    <p:sldId id="2147481009" r:id="rId3"/>
    <p:sldId id="2147480940" r:id="rId4"/>
    <p:sldId id="2147480941" r:id="rId5"/>
    <p:sldId id="2147480942" r:id="rId6"/>
    <p:sldId id="2147480943" r:id="rId7"/>
    <p:sldId id="2147480944" r:id="rId8"/>
    <p:sldId id="2147480945" r:id="rId9"/>
    <p:sldId id="2147480946" r:id="rId10"/>
    <p:sldId id="2147480947" r:id="rId11"/>
    <p:sldId id="2147480949" r:id="rId12"/>
    <p:sldId id="2147480950" r:id="rId13"/>
    <p:sldId id="2147480951" r:id="rId14"/>
    <p:sldId id="2147480952" r:id="rId15"/>
    <p:sldId id="2147480953" r:id="rId16"/>
    <p:sldId id="2147480954" r:id="rId17"/>
    <p:sldId id="2147480955" r:id="rId18"/>
    <p:sldId id="2147480956" r:id="rId19"/>
    <p:sldId id="2147480957" r:id="rId20"/>
    <p:sldId id="2147480958" r:id="rId21"/>
    <p:sldId id="2147480959" r:id="rId22"/>
    <p:sldId id="2147480960" r:id="rId23"/>
    <p:sldId id="2147480961" r:id="rId24"/>
    <p:sldId id="2147480962" r:id="rId25"/>
    <p:sldId id="2147480963" r:id="rId26"/>
    <p:sldId id="2147480964" r:id="rId27"/>
    <p:sldId id="2147480965" r:id="rId28"/>
    <p:sldId id="2147480966" r:id="rId29"/>
    <p:sldId id="2147480967" r:id="rId30"/>
    <p:sldId id="2147480968" r:id="rId31"/>
    <p:sldId id="2147480969" r:id="rId32"/>
    <p:sldId id="2147480970" r:id="rId33"/>
    <p:sldId id="2147480971" r:id="rId34"/>
    <p:sldId id="2147480972" r:id="rId35"/>
    <p:sldId id="2147480973" r:id="rId36"/>
    <p:sldId id="2147480974" r:id="rId37"/>
    <p:sldId id="2147480975" r:id="rId38"/>
    <p:sldId id="2147480976" r:id="rId39"/>
    <p:sldId id="2147480977" r:id="rId40"/>
    <p:sldId id="2147480978" r:id="rId41"/>
    <p:sldId id="2147480979" r:id="rId42"/>
    <p:sldId id="2147480980" r:id="rId43"/>
    <p:sldId id="2147480981" r:id="rId44"/>
    <p:sldId id="2147480982" r:id="rId45"/>
    <p:sldId id="2147480983" r:id="rId46"/>
    <p:sldId id="2147480984" r:id="rId47"/>
    <p:sldId id="2147480985" r:id="rId48"/>
    <p:sldId id="2147480986" r:id="rId49"/>
    <p:sldId id="2147480987" r:id="rId50"/>
    <p:sldId id="2147480988" r:id="rId51"/>
    <p:sldId id="2147480989" r:id="rId52"/>
    <p:sldId id="2147480990" r:id="rId53"/>
    <p:sldId id="2147480991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327" autoAdjust="0"/>
  </p:normalViewPr>
  <p:slideViewPr>
    <p:cSldViewPr snapToGrid="0">
      <p:cViewPr varScale="1">
        <p:scale>
          <a:sx n="90" d="100"/>
          <a:sy n="90" d="100"/>
        </p:scale>
        <p:origin x="307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Arindam Ghosh" userId="44976628360bfbdc" providerId="LiveId" clId="{E3FE5DBC-F559-48C7-8451-DF304FDF5303}"/>
    <pc:docChg chg="modSld">
      <pc:chgData name="Dr Arindam Ghosh" userId="44976628360bfbdc" providerId="LiveId" clId="{E3FE5DBC-F559-48C7-8451-DF304FDF5303}" dt="2025-07-29T14:12:45.536" v="0" actId="1076"/>
      <pc:docMkLst>
        <pc:docMk/>
      </pc:docMkLst>
      <pc:sldChg chg="modSp mod">
        <pc:chgData name="Dr Arindam Ghosh" userId="44976628360bfbdc" providerId="LiveId" clId="{E3FE5DBC-F559-48C7-8451-DF304FDF5303}" dt="2025-07-29T14:12:45.536" v="0" actId="1076"/>
        <pc:sldMkLst>
          <pc:docMk/>
          <pc:sldMk cId="363037990" sldId="2147481009"/>
        </pc:sldMkLst>
        <pc:spChg chg="mod">
          <ac:chgData name="Dr Arindam Ghosh" userId="44976628360bfbdc" providerId="LiveId" clId="{E3FE5DBC-F559-48C7-8451-DF304FDF5303}" dt="2025-07-29T14:12:45.536" v="0" actId="1076"/>
          <ac:spMkLst>
            <pc:docMk/>
            <pc:sldMk cId="363037990" sldId="2147481009"/>
            <ac:spMk id="25" creationId="{8D735816-C55C-EC35-80CC-3208096F2B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A5334-44AB-4E59-B922-A672E76F6C87}" type="datetimeFigureOut">
              <a:rPr lang="en-GB" smtClean="0"/>
              <a:t>29/07/2025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7CBEE-FFAE-4C47-A647-A4F5644C4C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975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4856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8D27D-D304-E09C-2FA4-53FA5CF1A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A50735-C44D-1478-B419-E4C4DCCA43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3CD5F-3DAE-532F-8231-97E31804C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63793-6A9D-B7CC-741D-C567B4E71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7465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4AEC4-3357-F923-CABA-A72150953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19E15-2DCB-2AAE-796E-9E6D7F736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4CDC49-95F7-2CEA-77EB-605824857A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C5295-1A5E-B5C2-6700-1D078621C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3905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862E3-8072-2F96-5D12-90CB33A17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9D9753-4C7C-3C0B-2113-CF2AF8316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06D94-1D3B-379F-3D3B-D0EBEEAC3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79A6A-EC3C-EE2E-40E0-0DCE545A55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5109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799D-F00F-5508-9940-636681BA7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BB929A-F7A0-CF51-B677-BD916C595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756D0-07AC-56FE-EF9A-F0157DD3B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93B7F-75A9-B342-AF3B-41927DC9F7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2375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5C3F6-BA5D-7E3A-A4BE-00B048309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8C4F39-3E82-30FA-5C22-982137C9D6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D5D8F-6E02-A910-90D0-8CBE688B6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0608A9-D06C-CC92-D7E9-1131EA801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4110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09039-200B-5038-1958-B4AE7E5ED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6B4656-4582-5522-466E-9FE1FA2951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8730BA-3130-86CA-20C0-FE930C7BD1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537C2-45F6-657E-99F5-2AD3F5FF2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37756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1FE29-49F3-7405-D3A0-74614D22E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BDDAF-CAA5-F77B-8F88-54B37B117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688649-C850-BB2B-B0BC-44AD55984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FD558-21D2-CBD9-8AE8-E814987D9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16375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4F70B-149B-A2FE-19F2-1D0D463C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87F911-A267-BB20-C22F-286C6C5EE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919B8-B827-F30E-4DA8-A0AD8A831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87742-5E42-F6F0-0524-0348E3649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80845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3C837-D602-6C8E-5B4B-C11EF52E8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E25DB-3FB4-4860-8A17-064DBD566F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BCC121-C500-A2A7-AEDC-BBD61FABD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1ECAC-258A-09E7-7D04-0A4E9D696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3532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2E3FE-2ABD-4B94-41A8-03C0520E8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35F3E1-C783-5145-76CF-F39822BC2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FA3B1-2B77-F3E4-1AFE-C34E5D02CB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EF7DC-31C4-90C5-ADF5-7A8F4758D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4037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AC39-2DD3-7D78-6DA8-C8A9AB685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811EC7-61BD-78BD-E427-96F0A18AB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55DE95-1025-8119-DC34-5F5984020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8DCED-1F4F-BC24-2DAA-CC50479EE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1767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14C94-03E9-8074-B58C-BB017393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867B9-F018-52F0-3F54-BA8D2D1C6F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C3E9E-8131-ED3E-732A-A70329644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0EDD-EAEE-5E72-9D30-458EE4605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4639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A488C-1509-B79A-6B66-35E2F525A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AD724-3FC9-53E2-433B-854703AD7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47D1B-62C2-63FB-E527-4C0549321C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47610-B106-3D51-180B-3FF201CD0C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2312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C07ED-E68E-0547-CC39-544F3A9A9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2F384A-F21A-B459-6524-B519FB3BB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96077E-0D6D-CAF4-8A59-3F5DAF4BB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4ABE7-CDDF-0D60-0166-9D3460580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82007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29BC6-E4F2-EA9D-36AB-390600026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05D3D-C9E6-A194-2DF7-B04B2F1D3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D4920-1D01-371D-3F59-F1D6B3513D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1B4C13-DD5E-9F53-CFBA-7DF88C281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8391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C5A8-8FEA-C5B0-C5E5-0207B5921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693F6-6360-E859-9467-F9B422E55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6B84C-18EB-AE67-9621-254F5D0BC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6502C-F5B3-9B8C-7849-D61A38F1E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1746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28A07-F3E0-0E9B-2715-B278FAE3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AE5A-FCA9-93E4-E2DC-0734383AD1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E04E8A-C7C9-7760-F0FB-CE1B11F42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0485A-AA32-A2EA-5915-2D84FB5471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94052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75D34-9E6E-E7A1-70FC-CAC528DA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822D78-475D-DA14-AE08-06573DF1F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3626FE-BB59-78E7-AF58-995252A75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954A3-90E2-4C7D-8137-0955EDE13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64392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44DA9-8AF4-CCB0-367A-2F5318DE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B8AA93-E0B9-E560-884A-FBE175007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4ED7A1-01B7-57F6-0E94-DF90708DD4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6BE0AB-49C3-CD64-6225-364B0D131B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201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3518B-7B37-784D-597E-D46A54D8F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82919-67BA-E576-E077-384BFB3497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32E7DD-50D3-F1D7-0FA5-F78F69CA6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1AC26-1940-0F7D-23F2-18B81CBCF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6570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7860-9936-8AD7-1005-A5C538A4E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E476B-1065-ABBA-EF02-E08E3FCF5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2A82A7-C946-9250-EA57-10C5AC70B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4EF62-F2A4-7C90-AECE-A1090F3CB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6826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947C6-8DFF-9FBF-D868-A7B41E16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B095E-5B76-45EE-EF51-E5F29B9001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DAC17F-A707-D274-2DD4-4EF354EBF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60DFB-1E21-2CE0-6656-A4CA13CEC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71786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D4EC-97D1-8E02-A89C-B311E7AD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5833B-0045-2484-C12F-3216279D1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781621-FE9E-0C56-E864-55281325A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9E903-8348-FF01-8164-D9326A576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52383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6C4FA-8DDC-6EB7-0BB7-0525C414B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D03797-0AA0-7A61-7393-36356B5F4D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4DA07-387A-E8D0-1E88-AB6F43170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1F586-302E-262F-FD02-39F0D4F95A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5406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8A418-241D-696F-6A73-E434C52B2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251E25-A4AA-D238-090F-3BFE55A90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029F5-5A6D-6E18-6DBE-47449F473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231C1-BD5D-BBE8-397B-1670955BE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48397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B7B37-94EA-1271-9DCD-7BDF50ECD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E23F6-F6A9-A5D0-D27B-289389076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D7CBA9-FBF9-1271-3798-76D8B2C2D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E2DF8-C6F8-F62B-0A01-95A57A11A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34584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19108-2200-4FDC-EDE3-B84734FC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DEC303-0D1E-AB82-549E-4C95FE8A32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57F26C-C331-3D23-C8E4-D7510A96C5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45C9DA-A0AA-DDC1-CCB5-CB7CC10B4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5495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8939C-F31F-A42F-FB8F-6E4692435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42AAB-95C2-1A31-3C4B-4BCCF3624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FE617-6154-9F83-6D2E-A3212CA67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41D6-00A0-CACF-12E0-1045F6E367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4214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E86CA-4928-F435-37B4-4FF889ACF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09969D-DEB5-EF14-1A39-9B8EDADEF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48D93-495A-0C03-1C25-AEC761E6EC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C052B-5ED3-0DF5-6130-D88A35CA9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1132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5790A-C9FB-5827-E57F-7F4ABC21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5C0E8-3C38-73CD-B28F-CDEA5CE6B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DB7C6-B884-BD94-8A13-7562959BC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0959B-0444-E2D1-7975-5D96FAFFE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7564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9B78D-D061-ECFC-618A-2177539FD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07799-51C5-FEFE-BA2D-DC57283561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C0A71-806F-622D-9667-4D71600B2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C68E8-44FD-F455-C40B-F31C47684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3380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2D25E-4A7B-9CE5-23CA-BD5F197D2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4FA5B-3DCC-9C8B-9AC5-5EDCA25088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16681-9037-70F9-B920-B9429BE4A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EB5DF-2C29-360F-1141-D44002C1E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127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06298-D63A-2FAE-D9B2-7100B5619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68540-07B8-CE37-D397-8B5CF3E3C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C7CA0-D016-C20F-D66B-5ADC7FEE6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39889-F656-719A-954D-B24571E9B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22014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919DB-FF1B-2569-3C69-475DC0807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8E0F5-1620-2992-A82A-51A90BED29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5DD0F-8A7C-C3B5-15B1-79C5C8D90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39A96-CFAF-38DE-7D7E-0F602F5CD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13581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6C9AC-9E60-4A4E-2A9D-B284E97B4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91E749-97A0-999D-C566-DD5FAFA6DF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86715E-9DB3-DC0B-3B98-8394325E1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0F223-8696-E0FA-812C-B835C7582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0663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3311E-3284-E629-1138-1B0D13FB9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448FE-0878-0F81-A948-A20F411E4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52D49-57F2-31A3-A524-9CD97F612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8737D-8FCE-C060-76A0-839DC2A92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3257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411A4-0808-C017-4CCD-DE7D4FD56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20913-A2F2-0AEC-DE38-5E4219D1BD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ABEE8-F70C-B889-8877-882D1F573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F3E35-FEA3-6FCE-2932-018E2C169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614657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94F9-6D9A-D11D-E0BE-4837154B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CF019-92F1-5235-BBFA-DFF1BAA83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CE2534-F9C7-6117-83D0-250208ABB5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1A732-4E7E-3C74-A13F-EA95207C7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40271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42839-9684-DDB7-2D4C-076F4E78A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430E4-974C-A4D8-CAD2-EBEB54C354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05018-3A50-DB2C-DF6B-CCD1BA765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82E39-9767-01D4-1F5E-5930124134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77467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4CCD-7FC4-2DEF-9EB6-6036556C0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541E5-A5A0-591E-5000-0B92610CF7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19A1C-9DF0-BABA-BC0C-BE0C02702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31DA4-576A-5584-3348-978FA306AC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944410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6CACD-B209-B5C5-28A4-E2EFB269B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27267-2D2C-BAFC-E8AB-568A9F8D6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EF7CAD-8093-128C-EB47-CDED8CA56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0BDB3-FF2C-29B4-7014-7A6E5642B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40816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F22A3-39B5-1E7F-CCEA-D2FE0A702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985BC-2ADD-4E48-9C80-0FEA8842E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765E53-A339-3CEC-47B5-D0D0FC577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53406-C301-31F1-9BDD-802F940A5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2398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FCE1E-E3B5-60B8-B403-895F34545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39368-473E-E7EE-74EC-4C4E88E00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16FDE-0DEE-C5A3-845A-E55A00D5B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7AE38-AB0A-6154-45CD-AC9453358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918606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F3164-8F4E-B0F7-388C-CC78E3DC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26676-2752-85BC-53D2-91810A084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5A988-90D6-6AB7-1C33-BF627AA8B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23170-2472-564B-D289-23DB6E039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1766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DB4D-570C-EECD-6AF0-49FF9E808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675C6-3DC3-9650-B816-210FE2B4C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06A33-291F-01D3-CFEE-F500B9864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40976-B21F-01E8-F3DB-EFAF64BE5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56466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7339D-E1D5-B899-6FBF-171B96CA0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0B1D5D-A3C6-25EB-5105-C57EC4EE5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787B36-1B7A-35F1-DBA5-E3B8F599E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FCED6-E806-B32D-4643-2B1A6626E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155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D9C5E5-9620-4FBC-AD03-52B8306EED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155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238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70F37-B49E-0168-2281-737CE349E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43267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02" y="1483629"/>
            <a:ext cx="10514927" cy="737369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600655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08703" y="6590128"/>
            <a:ext cx="2501900" cy="1695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68031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id="{AFBCA571-01A8-4E95-9C00-697199307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5" y="143888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8A8E08-2CD7-43E6-9FC9-C351E78469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286" y="1119911"/>
            <a:ext cx="10514927" cy="43507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15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C6B76AE-EDEC-4417-B5DA-F48574E37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321" y="143885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352206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6086669" y="6410013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410013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933" noProof="0" smtClean="0"/>
              <a:pPr lvl="0"/>
              <a:t>‹#›</a:t>
            </a:fld>
            <a:r>
              <a:rPr lang="en-US" sz="933" noProof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129F2-59C7-B08E-D41C-9CDA632C494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11418611" y="6177440"/>
            <a:ext cx="581292" cy="517277"/>
          </a:xfrm>
          <a:prstGeom prst="rect">
            <a:avLst/>
          </a:prstGeom>
        </p:spPr>
      </p:pic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2CF2A882-EE76-DB45-3EB3-B06F0005FFB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72" y="6277495"/>
            <a:ext cx="1689205" cy="40336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B64CE3B5-DF03-88A1-03F1-51B79C121C56}"/>
              </a:ext>
            </a:extLst>
          </p:cNvPr>
          <p:cNvGrpSpPr/>
          <p:nvPr userDrawn="1"/>
        </p:nvGrpSpPr>
        <p:grpSpPr>
          <a:xfrm>
            <a:off x="9581391" y="-5442"/>
            <a:ext cx="2610611" cy="1880737"/>
            <a:chOff x="9230395" y="-5442"/>
            <a:chExt cx="2961605" cy="2133600"/>
          </a:xfrm>
        </p:grpSpPr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817FD85A-4DE7-040D-B61C-C0162A511572}"/>
                </a:ext>
              </a:extLst>
            </p:cNvPr>
            <p:cNvSpPr/>
            <p:nvPr userDrawn="1"/>
          </p:nvSpPr>
          <p:spPr>
            <a:xfrm rot="16200000">
              <a:off x="9326540" y="1438545"/>
              <a:ext cx="493183" cy="425158"/>
            </a:xfrm>
            <a:prstGeom prst="triangle">
              <a:avLst/>
            </a:prstGeom>
            <a:solidFill>
              <a:srgbClr val="4E84C4">
                <a:alpha val="30196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6" name="Isosceles Triangle 5">
              <a:extLst>
                <a:ext uri="{FF2B5EF4-FFF2-40B4-BE49-F238E27FC236}">
                  <a16:creationId xmlns:a16="http://schemas.microsoft.com/office/drawing/2014/main" id="{E5CE4703-15EA-99C5-F01D-78C370A2AE45}"/>
                </a:ext>
              </a:extLst>
            </p:cNvPr>
            <p:cNvSpPr/>
            <p:nvPr userDrawn="1"/>
          </p:nvSpPr>
          <p:spPr>
            <a:xfrm rot="5400000" flipH="1">
              <a:off x="9208885" y="1438566"/>
              <a:ext cx="311885" cy="268866"/>
            </a:xfrm>
            <a:prstGeom prst="triangle">
              <a:avLst/>
            </a:prstGeom>
            <a:solidFill>
              <a:srgbClr val="4E84C4">
                <a:alpha val="18824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70D5A716-26E3-B2C0-28FE-BE5B36A3C052}"/>
                </a:ext>
              </a:extLst>
            </p:cNvPr>
            <p:cNvSpPr/>
            <p:nvPr userDrawn="1"/>
          </p:nvSpPr>
          <p:spPr>
            <a:xfrm rot="16200000">
              <a:off x="10205545" y="141703"/>
              <a:ext cx="2133600" cy="1839310"/>
            </a:xfrm>
            <a:prstGeom prst="triangle">
              <a:avLst/>
            </a:prstGeom>
            <a:solidFill>
              <a:srgbClr val="4E84C4">
                <a:alpha val="25882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  <p:sp>
          <p:nvSpPr>
            <p:cNvPr id="8" name="Isosceles Triangle 7">
              <a:extLst>
                <a:ext uri="{FF2B5EF4-FFF2-40B4-BE49-F238E27FC236}">
                  <a16:creationId xmlns:a16="http://schemas.microsoft.com/office/drawing/2014/main" id="{DEAF1B85-4807-D80A-96F2-52A6BB92FDB4}"/>
                </a:ext>
              </a:extLst>
            </p:cNvPr>
            <p:cNvSpPr/>
            <p:nvPr userDrawn="1"/>
          </p:nvSpPr>
          <p:spPr>
            <a:xfrm rot="5400000" flipH="1">
              <a:off x="9696544" y="141793"/>
              <a:ext cx="1349273" cy="1163165"/>
            </a:xfrm>
            <a:prstGeom prst="triangle">
              <a:avLst/>
            </a:prstGeom>
            <a:solidFill>
              <a:srgbClr val="4E84C4">
                <a:alpha val="12941"/>
              </a:srgbClr>
            </a:solid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19"/>
            </a:p>
          </p:txBody>
        </p:sp>
      </p:grpSp>
    </p:spTree>
    <p:extLst>
      <p:ext uri="{BB962C8B-B14F-4D97-AF65-F5344CB8AC3E}">
        <p14:creationId xmlns:p14="http://schemas.microsoft.com/office/powerpoint/2010/main" val="42729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 algn="l" defTabSz="1219080" rtl="0" eaLnBrk="1" latinLnBrk="0" hangingPunct="1">
        <a:lnSpc>
          <a:spcPct val="90000"/>
        </a:lnSpc>
        <a:spcBef>
          <a:spcPct val="0"/>
        </a:spcBef>
        <a:buNone/>
        <a:defRPr lang="en-US" sz="28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1219080" rtl="0" eaLnBrk="1" latinLnBrk="0" hangingPunct="1">
        <a:lnSpc>
          <a:spcPct val="90000"/>
        </a:lnSpc>
        <a:spcBef>
          <a:spcPts val="1333"/>
        </a:spcBef>
        <a:buClr>
          <a:srgbClr val="007DC5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28589" indent="-228589" algn="l" defTabSz="121908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352464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005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4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082" indent="-304768" algn="l" defTabSz="121908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0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8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8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6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5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3" algn="l" defTabSz="121908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84">
          <p15:clr>
            <a:srgbClr val="F26B43"/>
          </p15:clr>
        </p15:guide>
        <p15:guide id="4" orient="horz" pos="540">
          <p15:clr>
            <a:srgbClr val="F26B43"/>
          </p15:clr>
        </p15:guide>
        <p15:guide id="5" orient="horz" pos="636">
          <p15:clr>
            <a:srgbClr val="F26B43"/>
          </p15:clr>
        </p15:guide>
        <p15:guide id="6" orient="horz" pos="2964">
          <p15:clr>
            <a:srgbClr val="F26B43"/>
          </p15:clr>
        </p15:guide>
        <p15:guide id="8" pos="5664">
          <p15:clr>
            <a:srgbClr val="F26B43"/>
          </p15:clr>
        </p15:guide>
        <p15:guide id="9" pos="96">
          <p15:clr>
            <a:srgbClr val="F26B43"/>
          </p15:clr>
        </p15:guide>
        <p15:guide id="10" orient="horz" pos="31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8.xml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8.xml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8.xml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8.xml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slide" Target="slide8.xml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6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6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6" Type="http://schemas.openxmlformats.org/officeDocument/2006/relationships/slide" Target="slide1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7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6" Type="http://schemas.openxmlformats.org/officeDocument/2006/relationships/slide" Target="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6" Type="http://schemas.openxmlformats.org/officeDocument/2006/relationships/slide" Target="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6" Type="http://schemas.openxmlformats.org/officeDocument/2006/relationships/slide" Target="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6" Type="http://schemas.openxmlformats.org/officeDocument/2006/relationships/slide" Target="slide2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7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6" Type="http://schemas.openxmlformats.org/officeDocument/2006/relationships/slide" Target="slide2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6" Type="http://schemas.openxmlformats.org/officeDocument/2006/relationships/slide" Target="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6" Type="http://schemas.openxmlformats.org/officeDocument/2006/relationships/slide" Target="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6" Type="http://schemas.openxmlformats.org/officeDocument/2006/relationships/slide" Target="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6" Type="http://schemas.openxmlformats.org/officeDocument/2006/relationships/slide" Target="slide2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6" Type="http://schemas.openxmlformats.org/officeDocument/2006/relationships/slide" Target="slide2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2.xml"/><Relationship Id="rId16" Type="http://schemas.openxmlformats.org/officeDocument/2006/relationships/slide" Target="slide3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3.xml"/><Relationship Id="rId16" Type="http://schemas.openxmlformats.org/officeDocument/2006/relationships/slide" Target="slide3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3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3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6" Type="http://schemas.openxmlformats.org/officeDocument/2006/relationships/slide" Target="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6" Type="http://schemas.openxmlformats.org/officeDocument/2006/relationships/slide" Target="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8.xml"/><Relationship Id="rId16" Type="http://schemas.openxmlformats.org/officeDocument/2006/relationships/slide" Target="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6" Type="http://schemas.openxmlformats.org/officeDocument/2006/relationships/slide" Target="slide3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4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slide" Target="slide38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6" Type="http://schemas.openxmlformats.org/officeDocument/2006/relationships/slide" Target="slide3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6" Type="http://schemas.openxmlformats.org/officeDocument/2006/relationships/slide" Target="slide3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3.xml"/><Relationship Id="rId16" Type="http://schemas.openxmlformats.org/officeDocument/2006/relationships/slide" Target="slide3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7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6" Type="http://schemas.openxmlformats.org/officeDocument/2006/relationships/slide" Target="slide4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5.xml"/><Relationship Id="rId16" Type="http://schemas.openxmlformats.org/officeDocument/2006/relationships/slide" Target="slide4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6.xml"/><Relationship Id="rId16" Type="http://schemas.openxmlformats.org/officeDocument/2006/relationships/slide" Target="slide4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7.xml"/><Relationship Id="rId16" Type="http://schemas.openxmlformats.org/officeDocument/2006/relationships/slide" Target="slide4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0F790F0-67E0-ABE6-02E8-99C2C1328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22" y="2691632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2"/>
                </a:solidFill>
              </a:rPr>
              <a:t>Targeted Interventions – Detailed View</a:t>
            </a:r>
          </a:p>
        </p:txBody>
      </p:sp>
    </p:spTree>
    <p:extLst>
      <p:ext uri="{BB962C8B-B14F-4D97-AF65-F5344CB8AC3E}">
        <p14:creationId xmlns:p14="http://schemas.microsoft.com/office/powerpoint/2010/main" val="1388399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5BE86-52AB-585A-DF33-9498CAB2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88ED0-13DE-633C-21DF-B86BB403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 – S1 - Sponsorship Opportunity Matrix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D2478C-AED1-C98E-B0CE-462A72714E71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93477"/>
          <a:ext cx="11463036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814320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Sponsor acquisition currently relies on 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manual judgment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 rather than 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structured data insights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, slowing commercial growth.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</a:t>
                      </a:r>
                      <a:r>
                        <a:rPr lang="en-GB" sz="1200" b="1">
                          <a:latin typeface="+mj-lt"/>
                          <a:ea typeface="Lato regular"/>
                          <a:cs typeface="Calibri"/>
                        </a:rPr>
                        <a:t>systematic mapping</a:t>
                      </a: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 of sponsorship white spaces, brand category overlaps, or risk zones.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Missed opportunities to align Jaguar TCS Racing’s brand with future-facing sectors like </a:t>
                      </a:r>
                      <a:r>
                        <a:rPr lang="en-GB" sz="1200" b="1">
                          <a:latin typeface="+mj-lt"/>
                          <a:ea typeface="Lato regular"/>
                          <a:cs typeface="Calibri"/>
                        </a:rPr>
                        <a:t>wellness, fintech, and sustainability</a:t>
                      </a: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TCS proposes creating a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dynamic Sponsorship Opportunity Matrix</a:t>
                      </a: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through a live Tableau dashboard, mapping: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GB" sz="120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>
                          <a:latin typeface="+mj-lt"/>
                        </a:rPr>
                        <a:t>Existing partners and their brand categories.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Untapped industry verticals and emerging sponsorship sectors (“white spaces”).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Potential category conflicts across the current and targeted partner landscape.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Alignment to Formula E and JLR’s strategic themes (e-mobility, innovation, luxury, sustainability).</a:t>
                      </a:r>
                      <a:endParaRPr lang="en-US" sz="120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Secondary Research: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Competitive benchmarking of sponsorship portfolios, industry sponsorship trend analysis.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Internal Data: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Current sponsorship contracts, race activations, guest and partner engagement tracking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(Optional Future Phase) GenAI Assistance: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AI-driven mining of sponsorship shifts, category expansions, and brand activations to dynamically suggest future-fit sponsorship categories and brands</a:t>
                      </a:r>
                    </a:p>
                    <a:p>
                      <a:pPr marL="0" indent="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The Opportunity Matrix will allow 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filtering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by geography, race event, brand sector, and investment tier.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C38749C-61AE-BEA4-A0A9-93FA11568D37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F8C6568-CF45-881F-6B64-834C0B967651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E70B60-30B0-743E-1C3D-9E0C6B071D54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 b="1">
                <a:solidFill>
                  <a:srgbClr val="000000"/>
                </a:solidFill>
                <a:latin typeface="Calibri" panose="020F0502020204030204"/>
              </a:rPr>
              <a:t>Accelerates Sponsor Targeting: </a:t>
            </a: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smarter, prioritized prospecting strategies.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 b="1">
                <a:solidFill>
                  <a:srgbClr val="000000"/>
                </a:solidFill>
                <a:latin typeface="Calibri" panose="020F0502020204030204"/>
              </a:rPr>
              <a:t>Increases Sponsorship Revenue: </a:t>
            </a: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Shortens prospecting cycle through targeted engagement.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 b="1">
                <a:solidFill>
                  <a:srgbClr val="000000"/>
                </a:solidFill>
                <a:latin typeface="Calibri" panose="020F0502020204030204"/>
              </a:rPr>
              <a:t>Protects Existing Relationships: </a:t>
            </a: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Conflict detection prevents cross-category tension with partners.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 b="1">
                <a:solidFill>
                  <a:srgbClr val="000000"/>
                </a:solidFill>
                <a:latin typeface="Calibri" panose="020F0502020204030204"/>
              </a:rPr>
              <a:t>Drives Strategic Growth: </a:t>
            </a: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Positions Jaguar TCS Racing as a leader in next-generation sponsorship sectors.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B6D29-D2CA-CE00-8A8E-C8BB9BF1876F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Clear visual mapping of sponsorship gaps and overlaps.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More efficient sponsorship pipeline management.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Smarter prioritization of sponsorship outreach efforts.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Alignment with JLR’s evolving brand narrative across Formula 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DA410C-737E-2144-60B0-96AD0F51559D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E095A7A-941B-4EAC-BF97-FE377C6F55B4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5FC527E-F8E4-F15B-89A3-27977FD713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930E25-EF58-9051-5B3C-DD4F22CC1789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47B97F8-AE18-100E-83C7-1C423A523B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8404E2-EBC2-2602-DC85-A369BE1552E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0FCC2DD-CDED-E30C-26B3-90DDB1B38EE8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39EFDB6-77B1-8CED-0C25-6A22DBEE849F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4-6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878EDB-CB67-69B6-AC1B-A1A0A8439699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(Data Engineer, Tableau Developer) + 1 FTE (Future GenAI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E658039-38A1-7ECF-1705-CDB8C37A961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085C8EA-C267-9935-42D1-FC50013433E7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9819421-1A81-E9FF-9B15-8B472B43BCD5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BA43F2C8-49C7-98DA-E1FF-7A0138948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2CB8A35-A281-EC2F-49FF-2277E526708D}"/>
              </a:ext>
            </a:extLst>
          </p:cNvPr>
          <p:cNvSpPr txBox="1"/>
          <p:nvPr/>
        </p:nvSpPr>
        <p:spPr>
          <a:xfrm>
            <a:off x="8892639" y="5298273"/>
            <a:ext cx="2934879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Integration into a larger </a:t>
            </a:r>
            <a:r>
              <a:rPr lang="en-GB" sz="1091" b="1" i="1">
                <a:solidFill>
                  <a:srgbClr val="FFFFFF">
                    <a:lumMod val="50000"/>
                  </a:srgbClr>
                </a:solidFill>
                <a:latin typeface="Calibri" panose="020F0502020204030204"/>
              </a:rPr>
              <a:t>GenAI-driven Sponsor Recommendation Engine</a:t>
            </a:r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2D6AAC9-1EA5-0563-CEF0-5033F7179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8D735816-C55C-EC35-80CC-3208096F2B80}"/>
              </a:ext>
            </a:extLst>
          </p:cNvPr>
          <p:cNvSpPr txBox="1"/>
          <p:nvPr/>
        </p:nvSpPr>
        <p:spPr>
          <a:xfrm>
            <a:off x="9945384" y="5799151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DACB2EF6-9793-ACD0-3A94-98D356930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4215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5A0636EB-8A5A-81D2-4675-F4785FBFC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6203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D35FA7EE-DE02-CAEF-5EA1-0900EB620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2151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985D1E17-810A-10C3-86BC-DB4BA39CB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9EF2A44E-EB8E-2523-995C-2E90FA5B2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ED862C9-7453-AB57-E4DE-717F9186E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07C3590-39A0-60B1-C509-025018C02A48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002C9D75-309D-7AE5-176C-017A2681B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F322DB4-F6E3-FFF2-0239-7DFE3AEDC061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A328D7BE-EDAF-66BF-E4E9-687B0B98DD4E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1044" name="Picture 20" descr="Flag - Free flags icons">
            <a:extLst>
              <a:ext uri="{FF2B5EF4-FFF2-40B4-BE49-F238E27FC236}">
                <a16:creationId xmlns:a16="http://schemas.microsoft.com/office/drawing/2014/main" id="{AF72D60C-1299-4ED2-1C62-C8BF25447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CD94703-0BE8-B948-C3E7-088ADC6809B0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dirty="0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 dirty="0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 dirty="0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1046" name="Picture 22" descr="Lightning bolt - Free technology icons">
            <a:extLst>
              <a:ext uri="{FF2B5EF4-FFF2-40B4-BE49-F238E27FC236}">
                <a16:creationId xmlns:a16="http://schemas.microsoft.com/office/drawing/2014/main" id="{679EBBCB-A010-6150-AB6D-DE6A5FA9B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5" action="ppaction://hlinksldjump"/>
            <a:extLst>
              <a:ext uri="{FF2B5EF4-FFF2-40B4-BE49-F238E27FC236}">
                <a16:creationId xmlns:a16="http://schemas.microsoft.com/office/drawing/2014/main" id="{5E7371D1-209D-85B9-166C-2AA89EC977CD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6303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119EA-EE7D-4AEC-54D5-E10CFA1D2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AB722-7F31-1093-F6E4-3C3651D3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 – S2 - Proposal Development Automation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D8E077A-D0BA-C639-887E-A61C971066A8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93477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Sponsorship proposals are created manually using PowerPoint, with limited reuse of past decks or case studies.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Customization takes 3 - 5 weeks due to lack of structured assets, resulting in slow turnaround.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automated link between sponsor brand fit insights and proposal generation.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Current AI usage is limited to logo </a:t>
                      </a:r>
                      <a:r>
                        <a:rPr lang="en-GB" sz="1200" err="1">
                          <a:latin typeface="+mj-lt"/>
                          <a:ea typeface="Lato regular"/>
                          <a:cs typeface="Calibri"/>
                        </a:rPr>
                        <a:t>mockups</a:t>
                      </a: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 (Seen AI tool), not full proposal creation or deck automation.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TCS proposes building a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Proposal Development Automation Engine</a:t>
                      </a: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- a semi-automated toolkit that accelerates the creation of customized, brand-aligned sponsorship proposals by: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>
                          <a:latin typeface="+mj-lt"/>
                        </a:rPr>
                        <a:t>Reusing modular content blocks (e.g., activations, past metrics, ROI samples, pricing templates).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Generating customized presentations using inputs like brand category, market region, sponsorship tier, and expected ROI.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Integrating existing Seen AI-generated logo mock-ups and future brand activation suggestions.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Optionally leveraging GenAI to suggest tone of messaging, co-branded activations, or personalized sections for the proposal deck.</a:t>
                      </a:r>
                      <a:endParaRPr lang="en-US" sz="120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Structured Content Library: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Store all past activations, templates, pricing tiers, and case studies for modular reuse.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Seen AI Extension: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Automatically pull branding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mockups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into the deck from Seen AI or equivalent.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PowerPoint Plugin (or integrated tool):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Assemble a tailored, on-brand proposal in minutes via guided selections.</a:t>
                      </a:r>
                    </a:p>
                    <a:p>
                      <a:pPr marL="128270" marR="0" lvl="0" indent="-128270" algn="l" defTabSz="685732" rtl="0" eaLnBrk="1" fontAlgn="auto" latinLnBrk="0" hangingPunct="1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Clr>
                          <a:srgbClr val="6950A1"/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GenAI Integration (Optional): </a:t>
                      </a: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Suggest headlines, narratives, and creative copy using fine-tuned LLMs.</a:t>
                      </a:r>
                    </a:p>
                    <a:p>
                      <a:pPr marL="0" indent="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endParaRPr lang="en-GB" sz="120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A19558D-E580-46EE-78E9-E241D6772CA1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497EB0-8083-7155-B009-AE123B07D51B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D44B9-121A-0CCE-67B5-D7ACAE6C8777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time to build proposals by 50–70%.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brand alignment, content consistency, and personalization at scale.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dependency on marketing/comms teams for every pitch.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conversion rate by shortening sales cycle.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  <a:p>
            <a:pPr marL="228594" indent="-228594" defTabSz="914241">
              <a:buFont typeface="Wingdings" pitchFamily="2" charset="2"/>
              <a:buChar char="§"/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E7E52-C607-898E-B155-6E2646C2F9E0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Faster proposal turnaround (reduces 3 - 5 week cycle to &lt;1 week).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Reusability of structured case studies and pricing modules.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Consistent brand messaging and visuals across teams.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Frees up bandwidth of key commercial team members for strategic work.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5AB312C-F057-1EB2-2D4B-037C00568C5E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52B83E6-57C9-7B25-2434-C1A5776A81C6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A54980B-C29A-42FE-B8FD-62AE1BDA23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B2D64B0-3B45-4468-F48F-2B74527679D3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FA9927F-DDC1-73C7-086A-6ACA30B514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E7399DD-C775-196D-749D-3221AE5C4CD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FFDB494-E4EB-6E27-F72A-CA5005DBBF6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B5804E2-52D5-9777-17AE-5915D983B6E7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4-6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70F1244-975B-EA3D-843E-F3D847E67E67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(Data Engineer, </a:t>
                </a:r>
                <a:r>
                  <a:rPr lang="en-GB" sz="1200" err="1">
                    <a:solidFill>
                      <a:srgbClr val="000000"/>
                    </a:solidFill>
                    <a:latin typeface="Calibri" panose="020F0502020204030204"/>
                  </a:rPr>
                  <a:t>Ux</a:t>
                </a:r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 Designer) + 1 FTE (Future GenAI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4155E5C-5A48-EE1B-2915-ED00C6A8AF85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5CA2A98-E3EE-BE31-6794-51BC3EF8381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2431B90-BB49-C898-9BCB-2E285DB08817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C2677600-E692-E763-FE37-14FFCB773D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CC972E2-94D7-B0E2-8222-2212B95F9765}"/>
              </a:ext>
            </a:extLst>
          </p:cNvPr>
          <p:cNvSpPr txBox="1"/>
          <p:nvPr/>
        </p:nvSpPr>
        <p:spPr>
          <a:xfrm>
            <a:off x="8892639" y="5383084"/>
            <a:ext cx="2934879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Integration into a larger </a:t>
            </a:r>
            <a:r>
              <a:rPr lang="en-GB" sz="1091" b="1" i="1">
                <a:solidFill>
                  <a:srgbClr val="FFFFFF">
                    <a:lumMod val="50000"/>
                  </a:srgbClr>
                </a:solidFill>
                <a:latin typeface="Calibri" panose="020F0502020204030204"/>
              </a:rPr>
              <a:t>GenAI-driven Partner Proposal Engine</a:t>
            </a:r>
            <a:endParaRPr lang="en-GB" sz="1091" b="1" i="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992191CB-8AF1-0678-9D09-D609BA86B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A4685B5-068B-7F53-7BD8-AB10B227F14B}"/>
              </a:ext>
            </a:extLst>
          </p:cNvPr>
          <p:cNvSpPr txBox="1"/>
          <p:nvPr/>
        </p:nvSpPr>
        <p:spPr>
          <a:xfrm>
            <a:off x="8892640" y="6205692"/>
            <a:ext cx="2089065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Commercialized Solution</a:t>
            </a:r>
          </a:p>
        </p:txBody>
      </p:sp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098C2891-A8BF-DAE5-9F94-7F7A2CC4F4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4215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DB3E7872-7B3B-0A54-609D-1BF5701F6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6203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1B97BC7-AC1C-BE5B-4D3F-8BA4F2A81F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2151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6F3667D8-D0FB-F5C5-7CFC-AB6E6413A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B9DCDD21-D289-6138-C544-501A385C98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4A0411B-8485-FAA5-F8DB-5FF354E1E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38E303A-170C-7E16-19DC-FC342681D7CD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4CA44BE-002B-ACFB-8F3A-70C3BECAD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EFFFA5D-6657-67FD-4A72-BE608319A340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C4BDA35-CD31-0D93-134E-DBCB42D8C36D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25658765-1930-3370-634C-DA9DEFF945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B90C86D-AC18-AB99-0554-6A2813921EA8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2" name="Picture 22" descr="Lightning bolt - Free technology icons">
            <a:extLst>
              <a:ext uri="{FF2B5EF4-FFF2-40B4-BE49-F238E27FC236}">
                <a16:creationId xmlns:a16="http://schemas.microsoft.com/office/drawing/2014/main" id="{349D5E6B-FC9A-765A-F3CB-7F773D4D5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Left 22">
            <a:hlinkClick r:id="rId15" action="ppaction://hlinksldjump"/>
            <a:extLst>
              <a:ext uri="{FF2B5EF4-FFF2-40B4-BE49-F238E27FC236}">
                <a16:creationId xmlns:a16="http://schemas.microsoft.com/office/drawing/2014/main" id="{C7511574-3E8E-C677-A6D1-0BA648916746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69454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27107-1089-F4BC-5D39-787CD5621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6B70-1C0E-D39D-BF05-D43BD8C94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 – S3 - Conflict Intelligence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576538-3D0C-4175-A99D-897C29F0F73F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657087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Current brand conflict checks are manual, intuition-driven, and often dependent on individual memory or back-channel checks.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structured database or intelligence layer exists to flag potential exclusivity clashes or sensitive overlaps early.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Increases risk of eroding trust with existing sponsors or delaying proposals due to late-stage rework.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system to codify category ownership rules, resulting in ambiguity and negotiation inefficiency.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>
                          <a:latin typeface="+mj-lt"/>
                        </a:rPr>
                        <a:t>Partner Category Mapping: </a:t>
                      </a:r>
                      <a:r>
                        <a:rPr lang="en-GB" sz="1200">
                          <a:latin typeface="+mj-lt"/>
                        </a:rPr>
                        <a:t>Maintain structured records of existing sponsor verticals, sub-categories, contract duration, and exclusivity clauses.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Conflict Detection Logic: </a:t>
                      </a: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Based on rules (and eventually GenAI models), identify potential risk zones when evaluating new leads (e.g., audio tech, energy drink, insurance).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Real-Time Alerts: </a:t>
                      </a: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While drafting a proposal or lead qualification note, trigger smart prompts if conflicts arise.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Heatmap &amp; Risk Score:</a:t>
                      </a:r>
                      <a:r>
                        <a:rPr lang="en-GB" sz="120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Visual overlay of high-risk categories/geographies/events.</a:t>
                      </a:r>
                      <a:endParaRPr lang="en-US" sz="120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Internal Contract Metadata: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categories, exclusivity, activation rights.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Sponsorship Tracker: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with Opportunity Matrix and Proposal Engine.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Business Rules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Simple logic in Phase 1, expandable to GenAI conflict learning in Phase 2.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Visualization Layer: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Heatmap-style Tableau dashboard or lightweight WebApp.</a:t>
                      </a:r>
                      <a:endParaRPr lang="en-GB" sz="1200" b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8D8B72-599B-66FB-77E8-23E09FB42241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8B4C3B-AD16-5A36-6FEB-8C5CDDF60133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99686-E8D2-19C3-41A5-B214E92706E0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reputational risk by catching category overlaps early.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Helps commercial teams negotiate better using exclusivity as a value proposition.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Supports cleaner segmentation of sponsorship landscape - reduces ambiguity.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A18A6A-5D3C-8F62-66F8-948AB0F02988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Avoids rework and delays in proposal flow.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Builds trust with current sponsors via responsible territory management.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Frees up team effort from subjective validation or last-minute legal calls.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Strengthens internal knowledge base over time.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DB02DC-0F1D-7E61-7FCD-3A5B52A08CA3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5F521F-8A7F-0D71-1E63-A706AA765B4D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9292D94-19DC-81EC-D99D-3EA5F42977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A38BB40-299B-3A50-1B21-41124AE1535A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217D700-98B3-BC67-1DFC-487B1188BB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C7316B-9DC9-22C1-0A93-33D4D528F64F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EA8A747-2BA2-5B93-6A84-AA961C83E4F1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D293052-2A97-5661-6E8B-21ADEE0854D4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3-5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5BABAF0-A3C3-A404-389D-729D3C7B6467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FTE (Business Analyst, Tableau Developer, 1 Data Engineer)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D51C521-5392-41B1-2BEA-EBC35FA3548C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2B1EBA-876C-9EC5-72E3-CC82FA3E0DBA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5493FD-9B18-4D74-E754-D31D9109F682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F757EC23-062A-D837-CC2B-82B0D2B26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97FD649-7D09-C43A-DF4E-4C76854685D8}"/>
              </a:ext>
            </a:extLst>
          </p:cNvPr>
          <p:cNvSpPr txBox="1"/>
          <p:nvPr/>
        </p:nvSpPr>
        <p:spPr>
          <a:xfrm>
            <a:off x="8892639" y="5319475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Evolve into </a:t>
            </a:r>
            <a:r>
              <a:rPr lang="en-GB" sz="1091" b="1" i="1">
                <a:solidFill>
                  <a:srgbClr val="FFFFFF">
                    <a:lumMod val="50000"/>
                  </a:srgbClr>
                </a:solidFill>
                <a:latin typeface="Calibri" panose="020F0502020204030204"/>
              </a:rPr>
              <a:t>Conflict Intelligence Suite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which monitors Brand Proximity, suggests Conflict-free categories etc.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6CF8297C-EA61-0AED-743F-5A4C68F35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064DE97-E7CB-5990-FA75-20D495717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1636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45F13A6A-4568-96D5-03DE-6D4D32B2C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69452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CADD9FFA-847B-CF19-4B2F-FEF90829F7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9572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D432875-D041-C154-5E2D-8B9AD772A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064FDDA3-8C95-F380-75E2-4C894502D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BD1C17A2-C950-DC2A-0415-58DD4FAA8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7E212C1-6EEE-BF7F-4535-3914DC2FE0FF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C7DA9EEC-0567-2430-6D11-E42FC218A8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37548FF-7AB0-BD7F-0CF7-A2CC7DB840C2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4090C9E-DE93-0AEC-7EAE-C8716D6B8B26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1044" name="Picture 20" descr="Flag - Free flags icons">
            <a:extLst>
              <a:ext uri="{FF2B5EF4-FFF2-40B4-BE49-F238E27FC236}">
                <a16:creationId xmlns:a16="http://schemas.microsoft.com/office/drawing/2014/main" id="{6C1DF54F-A3AF-F973-3D06-C8A79008E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5004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57FE856-5872-E4B2-B84D-E77E9A32E306}"/>
              </a:ext>
            </a:extLst>
          </p:cNvPr>
          <p:cNvSpPr txBox="1"/>
          <p:nvPr/>
        </p:nvSpPr>
        <p:spPr>
          <a:xfrm>
            <a:off x="10177004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050" name="Picture 2" descr="Rocket - Free transport icons">
            <a:extLst>
              <a:ext uri="{FF2B5EF4-FFF2-40B4-BE49-F238E27FC236}">
                <a16:creationId xmlns:a16="http://schemas.microsoft.com/office/drawing/2014/main" id="{1D209E94-9052-D186-795B-EBB0865D7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607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C498E2-0591-F756-EF19-C0A4BD4E212C}"/>
              </a:ext>
            </a:extLst>
          </p:cNvPr>
          <p:cNvSpPr txBox="1"/>
          <p:nvPr/>
        </p:nvSpPr>
        <p:spPr>
          <a:xfrm>
            <a:off x="8892639" y="6185665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Commercialized Solution</a:t>
            </a:r>
          </a:p>
        </p:txBody>
      </p:sp>
      <p:sp>
        <p:nvSpPr>
          <p:cNvPr id="13" name="Arrow: Left 12">
            <a:hlinkClick r:id="rId15" action="ppaction://hlinksldjump"/>
            <a:extLst>
              <a:ext uri="{FF2B5EF4-FFF2-40B4-BE49-F238E27FC236}">
                <a16:creationId xmlns:a16="http://schemas.microsoft.com/office/drawing/2014/main" id="{BBAB8F07-5132-9B1A-872F-FED8759F48A9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125419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002CD-F391-1A29-5BFF-028B5BC05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EBC39-8EA7-7FA5-0848-8DF5D1820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 – S4 - Brand Intelligence &amp; Prospect Discovery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579137-A1D7-3991-29D2-3CD5C8B1ACED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657087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Current brand targeting is manual, reactive, and relies heavily on networking or team memory.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There’s no structured method to discover new brands or validate which ones align with JLR/Formula 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Teams face difficulty in justifying why a particular brand (e.g., Bose vs Sonos) is more suitable — fitment decisions are often intuitive.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central list of high-potential targets updated on a rolling basis.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lightweight dashboard powered by curated data sources and AI augmentation to: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Discover new brands showing sponsorship activity in relevant sectors (mobility, tech, sustainability, luxury).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Score brands based on strategic alignment with JLR values: e.g., ESG focus, innovation, performance tech, electrification.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Generate a target list of brands per quarter by industry, geography, and brand-fit score.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Include GenAI-assisted discovery prompts (e.g., “Show top 10 sustainable challenger brands in personal tech.”)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External Data Feeds: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Public sponsorship news (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SponsorUnited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, PR releases, brand collabs), M&amp;A activity, social media signals.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Internal Inputs: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JLR positioning, Formula E themes, category exclusivity mapping.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Brand Fit Scoring Logic: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Based on keywords, ESG alignment, media presence, innovation signals.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GenAI Plugin (Phase 2):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n-lt"/>
                          <a:ea typeface="Calibri"/>
                          <a:cs typeface="Calibri"/>
                        </a:rPr>
                        <a:t>Takes descriptive queries to return curated target lists with justifications.</a:t>
                      </a:r>
                      <a:endParaRPr lang="en-GB" sz="1200" b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BBA146A-9C16-ADDB-66B0-679AFA803738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0CEB4B-91A7-73F5-E5EC-C13372BBB926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EDBED0-AB1E-D7CE-2D94-9ABD2A4FF6E2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targeted, data-backed outreach to high-fit brands.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Moves prospecting from guesswork to strategy-first targeting.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Increases efficiency in proposal generation by focusing only on qualified brands.</a:t>
            </a:r>
          </a:p>
          <a:p>
            <a:pPr defTabSz="914241"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  <a:p>
            <a:pPr marL="228594" indent="-228594" defTabSz="914241">
              <a:buFont typeface="Wingdings" pitchFamily="2" charset="2"/>
              <a:buChar char="§"/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  <a:p>
            <a:pPr marL="228594" indent="-228594" defTabSz="914241">
              <a:buFont typeface="Wingdings" pitchFamily="2" charset="2"/>
              <a:buChar char="§"/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2BFB60-A47E-2C51-465A-7C7AF67E0DF5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Saves time in researching and justifying targets.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success rate by chasing well-aligned brands.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a repeatable, evolving list of leads per industry/quarter.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Adds credibility and structure to sponsorship acquisition meetings.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CB5DD8E-81F7-D02E-F3A6-631A09E36416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9B27898-89FF-BB57-8A8E-114B382A6A86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4A07AD0-B920-4625-6EBE-E37BC24B13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3FC7585-0567-73EF-F40E-28470FD08D19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C2FFCCD-C4CA-4793-B8A8-409CC4A75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086C95-0403-7DD9-C907-E08F6CEDB5CD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A45CEB9-5046-4E65-3F08-511940A6BC81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378B42-6EED-A164-0AC3-E22ED514FF8A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4-6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81D0338-2CA1-AE58-7413-4DD1F6ACC3C5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FTE (Data Curator, Prompt Engineer, Data Engineer, Dashboard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6C26FFE-1BD6-0EAA-D6DA-70A47A6E4EE9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5C9E8A-1CFA-5BDD-C63B-015EB689200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C3B4B5-9F82-2C03-E791-596293C56F72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E1E90769-02A4-4527-F2E5-02E7C226C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58A5204-D9BB-3841-CB51-AFA89041B6E1}"/>
              </a:ext>
            </a:extLst>
          </p:cNvPr>
          <p:cNvSpPr txBox="1"/>
          <p:nvPr/>
        </p:nvSpPr>
        <p:spPr>
          <a:xfrm>
            <a:off x="8892639" y="5319475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Integrate into </a:t>
            </a:r>
            <a:r>
              <a:rPr lang="en-GB" sz="1091" b="1" i="1">
                <a:solidFill>
                  <a:srgbClr val="FFFFFF">
                    <a:lumMod val="50000"/>
                  </a:srgbClr>
                </a:solidFill>
                <a:latin typeface="Calibri" panose="020F0502020204030204"/>
              </a:rPr>
              <a:t>Conflict Intelligence Suite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with a layer of Real-Time Trend Tracking.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62F69A80-E25E-BD00-263C-B895A3343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57E28CA4-6C5E-9CE9-DE2C-8BD3154D12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1636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AE4DE1D-74CF-EB19-5C5B-09A26D87F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69452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99AE4899-3B37-77BB-7790-FAB9AF14E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9572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8401846D-9A3B-B5D6-359B-B838C8007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2FC170AE-D2ED-9016-82DE-FF26882DE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261EAE6F-4CD7-06B4-40C8-987A9A972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920147F-6904-570D-5007-D1E46A12905A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3B13390-F901-22EA-4559-18FC9024C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74B92F4-115E-AB24-A2AF-32A0AB33C214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entury" panose="02040604050505020304" pitchFamily="18" charset="0"/>
              </a:rPr>
              <a:t>Medium</a:t>
            </a: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E4B8399-6115-0044-60DF-9A51F5C1D210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1044" name="Picture 20" descr="Flag - Free flags icons">
            <a:extLst>
              <a:ext uri="{FF2B5EF4-FFF2-40B4-BE49-F238E27FC236}">
                <a16:creationId xmlns:a16="http://schemas.microsoft.com/office/drawing/2014/main" id="{14ABC874-DC8B-D9F8-7F29-AD2EE4F58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5004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60D8616-4B6F-9C8A-7D78-CC498CF69FF5}"/>
              </a:ext>
            </a:extLst>
          </p:cNvPr>
          <p:cNvSpPr txBox="1"/>
          <p:nvPr/>
        </p:nvSpPr>
        <p:spPr>
          <a:xfrm>
            <a:off x="10177004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050" name="Picture 2" descr="Rocket - Free transport icons">
            <a:extLst>
              <a:ext uri="{FF2B5EF4-FFF2-40B4-BE49-F238E27FC236}">
                <a16:creationId xmlns:a16="http://schemas.microsoft.com/office/drawing/2014/main" id="{7FE94920-78E4-7546-9AE9-424FA0A72D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607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5A02A89-38AB-3DA7-963E-2A669CACBE3B}"/>
              </a:ext>
            </a:extLst>
          </p:cNvPr>
          <p:cNvSpPr txBox="1"/>
          <p:nvPr/>
        </p:nvSpPr>
        <p:spPr>
          <a:xfrm>
            <a:off x="8892639" y="608816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sp>
        <p:nvSpPr>
          <p:cNvPr id="13" name="Arrow: Left 12">
            <a:hlinkClick r:id="rId15" action="ppaction://hlinksldjump"/>
            <a:extLst>
              <a:ext uri="{FF2B5EF4-FFF2-40B4-BE49-F238E27FC236}">
                <a16:creationId xmlns:a16="http://schemas.microsoft.com/office/drawing/2014/main" id="{CABEADCF-95B4-1972-55D3-9F2A79BEA09F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498336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FCB4-6B71-6AD6-C569-408FFC35B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1EE14-7858-98FF-0E61-C5DFFD67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 – S5 - Sponsor Onboarding &amp; Handover Toolkit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AEB8BF-BD54-5F8A-4E28-689FE9087D86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82877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Once a sponsorship deal is signed, handover to internal teams and the sponsor is fragmented, manual, and undocumented.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Key details like rights entitlements, activation expectations, and branding guidelines are often passed via email or spreadsheets. This causes: Activation delays, Partner dissatisfaction, Internal confusion during high-pressure race periods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centralized onboarding pack or tracker exists for sponsors or internal teams.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structured digital workflow and document package that ensures both: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Internal handover from Commercial to Partnerships, PR, Ops, Legal, Events.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External onboarding for the partner brand team.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Internal Handover Includes: Sponsorship tier &amp; vertical, Contract duration and renewal dates, Entitlements matrix (digital, hospitality, branding rights), Activation roadmap and race-specific expectations, etc.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External Partner Onboarding Includes: Sponsor welcome pack, Brand guidelines and approval workflows, Rights usage summary, Activation opportunities per race etc. 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Smart Workflow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Built on SharePoint, PowerApps, or ServiceNow.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Contract Metadata 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Pulled from commercial documentation or CRM.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Output Generation: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Internal: PDF handover document + tracking dashboard; External: Onboarding PDF pack with optional digital access (e.g., branded portal)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B6979DA-287C-66CC-314A-8A1F85EB5B1C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CEECDE-BAC3-4CD1-04FD-821CDD0545E6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8C5D9-C43D-832E-AC35-1C7D9977D389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flawless internal execution by providing teams with consistent, verified data.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professional and timely onboarding experience to the sponsor brand.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ambiguity, misalignment, and activation risk.</a:t>
            </a:r>
          </a:p>
          <a:p>
            <a:pPr defTabSz="914241"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  <a:p>
            <a:pPr marL="228594" indent="-228594" defTabSz="914241">
              <a:buFont typeface="Wingdings" pitchFamily="2" charset="2"/>
              <a:buChar char="§"/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  <a:p>
            <a:pPr marL="228594" indent="-228594" defTabSz="914241">
              <a:buFont typeface="Wingdings" pitchFamily="2" charset="2"/>
              <a:buChar char="§"/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618C82-008A-CB23-4A35-6ABCBCB4A707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Faster and more consistent delivery against commitments.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Better partner experience → increased renewal probability.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Reduced confusion during race periods.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Frees up manual effort across multiple departments.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55BD925-6B21-D1E1-D55D-2E0208F9F159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45B0906-5B16-8E19-3DB5-2AB4BBF6B6B9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F0A3253-67B4-50F5-F02E-11D9B27878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97557E7-6171-9870-90AD-69FD87D59639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099BA73-4490-DF40-8D58-3554205008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F2E2D4-5A1F-E26C-6B1D-A29FFDC02844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1D4F96A-BA00-F186-4075-C97A034B9B2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AC8FAB8-1DB4-B636-A6C0-42C9604B0BE4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3-4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7B116D6-E2C7-4FC9-8E94-35F5ECD6DC19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FTE (Workflow Developer, Data Engineer, Dashboard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30689B6-230E-73B0-57C6-5C37198267E5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A03A76-F8B5-981F-B44B-19519365482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2ADDF1-7562-796A-7434-D5A9CE78AACA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6FDD2CE2-2335-E8C8-35EA-34C3DEF53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533F45F-690D-ED4C-2DB2-3D8D0510888E}"/>
              </a:ext>
            </a:extLst>
          </p:cNvPr>
          <p:cNvSpPr txBox="1"/>
          <p:nvPr/>
        </p:nvSpPr>
        <p:spPr>
          <a:xfrm>
            <a:off x="8892639" y="5319475"/>
            <a:ext cx="3143416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Turn into </a:t>
            </a:r>
            <a:r>
              <a:rPr lang="en-GB" sz="1091" b="1" i="1">
                <a:solidFill>
                  <a:srgbClr val="FFFFFF">
                    <a:lumMod val="50000"/>
                  </a:srgbClr>
                </a:solidFill>
                <a:latin typeface="Calibri" panose="020F0502020204030204"/>
              </a:rPr>
              <a:t>Central Sponsor Hub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for live deliverables, asset sharing, feedback also enabling race-level updates and sign-offs in real time.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9A0D6566-81A3-877A-6AF3-5F589155C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25EAC7B-AFEE-DECE-36F1-AE6151A3A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2095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C37315C4-E199-31D8-C0E2-C786F02DF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9910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3B3043AF-9EFA-B8C0-D677-F72E9D031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0031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753E7749-D043-242D-53AC-8CCD6FC5E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BE2911C9-39BE-9A9B-E424-357E1B929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6FC712D2-269B-51C8-BE2B-2B4BFCC30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4EB4A6B-90B9-73D0-8F78-1F1CC8B1DFAA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BFF3F28D-CF41-B301-5F38-76F2ADA685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75948A9-8C20-5770-E318-88DB9D2D0787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0C1735E3-6678-90DD-4D71-04631333489B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F2EB10-0C78-2E45-9C15-4EB76B51E771}"/>
              </a:ext>
            </a:extLst>
          </p:cNvPr>
          <p:cNvSpPr txBox="1"/>
          <p:nvPr/>
        </p:nvSpPr>
        <p:spPr>
          <a:xfrm>
            <a:off x="8892639" y="6119973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C2296F73-1230-CC75-8A00-B8EE2CE45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4EC7122-E0B3-B8E6-8707-A5E154C1FBC8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81EB62B6-674D-ADF9-B39E-255A07CDA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5" action="ppaction://hlinksldjump"/>
            <a:extLst>
              <a:ext uri="{FF2B5EF4-FFF2-40B4-BE49-F238E27FC236}">
                <a16:creationId xmlns:a16="http://schemas.microsoft.com/office/drawing/2014/main" id="{BBE6AC14-AFFB-B690-651B-3D1BBD89E68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294841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647AC-C745-801A-27F6-9FB8A87F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6EC2E-19DF-552A-E347-82E20939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2 – S1 - Sponsorship Activation &amp; Feedback Hub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9FF349-A905-B2FB-6782-C9173A1C8E41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678289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Sponsor activation efforts during race weekends are tracked manually through WhatsApp, Excel, and ad-hoc reports.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Feedback from guests and partners is inconsistently captured and not linked back to sponsor entitlements.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Lack of a centralized system makes it difficult to monitor real-time delivery and post-race performance.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</a:t>
                      </a:r>
                      <a:r>
                        <a:rPr lang="en-GB" sz="1200" b="1">
                          <a:latin typeface="+mj-lt"/>
                        </a:rPr>
                        <a:t>unified digital interface</a:t>
                      </a:r>
                      <a:r>
                        <a:rPr lang="en-GB" sz="1200" b="0">
                          <a:latin typeface="+mj-lt"/>
                        </a:rPr>
                        <a:t> (dashboard + workflow) that enables: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>
                          <a:latin typeface="+mj-lt"/>
                        </a:rPr>
                        <a:t>Live activation tracking </a:t>
                      </a:r>
                      <a:r>
                        <a:rPr lang="en-GB" sz="1200" b="0">
                          <a:latin typeface="+mj-lt"/>
                        </a:rPr>
                        <a:t>against partner rights across events (e.g., branding, tickets, hospitality, digital).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Real-time comms module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to streamline sponsor updates from the ground team.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Guest feedback capture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via QR codes or links — aligned to sponsors and experiences.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Partner summary pack generation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post-race, auto-tagged to entitlements and activations. 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 or PowerApps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layer to record and validate rights activation.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with WhatsApp Web/Teams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structured status updates.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QR-based mobile forms (e.g., MS Forms, Power Automate)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gather live guest feedback.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Auto-generation of post-race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sponsor delivery report in PDF/PPT.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C53210-941D-2016-631B-F4F50584B13A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78150B-AC42-8F6C-8CE5-1120D59D56D2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A5A83-65D6-8C32-2083-B68B5779518F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 b="1">
                <a:solidFill>
                  <a:srgbClr val="000000"/>
                </a:solidFill>
                <a:latin typeface="Calibri" panose="020F0502020204030204"/>
              </a:rPr>
              <a:t>Reduces manual tracking burden </a:t>
            </a: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on ground team.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 b="1">
                <a:solidFill>
                  <a:srgbClr val="000000"/>
                </a:solidFill>
                <a:latin typeface="Calibri" panose="020F0502020204030204"/>
              </a:rPr>
              <a:t>Increases sponsor confidence </a:t>
            </a: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through visible, structured reporting.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 b="1">
                <a:solidFill>
                  <a:srgbClr val="000000"/>
                </a:solidFill>
                <a:latin typeface="Calibri" panose="020F0502020204030204"/>
              </a:rPr>
              <a:t>Improves accountability </a:t>
            </a: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for entitlements during hectic race days.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  <a:p>
            <a:pPr marL="228594" indent="-228594" defTabSz="914241">
              <a:buFont typeface="Wingdings" pitchFamily="2" charset="2"/>
              <a:buChar char="§"/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40B0C7-1DE8-BFBF-8304-37C54F760810}"/>
              </a:ext>
            </a:extLst>
          </p:cNvPr>
          <p:cNvSpPr txBox="1"/>
          <p:nvPr/>
        </p:nvSpPr>
        <p:spPr>
          <a:xfrm>
            <a:off x="4310098" y="4510068"/>
            <a:ext cx="3673015" cy="12890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Seamless </a:t>
            </a:r>
            <a:r>
              <a:rPr lang="en-GB" sz="1200" b="1">
                <a:solidFill>
                  <a:srgbClr val="000000"/>
                </a:solidFill>
                <a:latin typeface="Calibri" panose="020F0502020204030204"/>
              </a:rPr>
              <a:t>race-day delivery validation </a:t>
            </a: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in real-time.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 b="1">
                <a:solidFill>
                  <a:srgbClr val="000000"/>
                </a:solidFill>
                <a:latin typeface="Calibri" panose="020F0502020204030204"/>
              </a:rPr>
              <a:t>Consolidated post-race summaries </a:t>
            </a: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for internal and sponsor use.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Higher </a:t>
            </a:r>
            <a:r>
              <a:rPr lang="en-GB" sz="1200" b="1">
                <a:solidFill>
                  <a:srgbClr val="000000"/>
                </a:solidFill>
                <a:latin typeface="Calibri" panose="020F0502020204030204"/>
              </a:rPr>
              <a:t>partner satisfaction and renewability </a:t>
            </a: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through structured feedback loops.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2E83C4-50A8-0B2C-3373-4A7DA97E831E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BA5C86D-12DE-37E8-EF86-F83DEAD7E8DB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0E1B665-2432-9763-7D43-E8D55682F8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0D6CDA6-1212-2148-5CD6-2122F1344587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0DDF4A4-FBF9-B1BA-AC63-21B7BB525B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775501C-2612-F42C-2A2C-98ADD49CD670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6E80696-943C-4170-8E51-0408DE7BFB9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8FC962-D068-08B5-53D6-ACC09D6A445A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4A6A9C1-03E2-A88C-76FF-B078E6F1BBF3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(Workflow Developer, Tableau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BA4EC87-A6AB-09C1-C8AA-BC0DF98DF6D5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820E8AA-0480-0302-A1AF-EF26A84005B8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4D0BE6-00C0-45D8-5644-9D2B999B8FB3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EF656E06-92A6-5789-9AEA-E220684E1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8F6FB6A-DF9C-A9EE-36B4-AD0D7478EAA3}"/>
              </a:ext>
            </a:extLst>
          </p:cNvPr>
          <p:cNvSpPr txBox="1"/>
          <p:nvPr/>
        </p:nvSpPr>
        <p:spPr>
          <a:xfrm>
            <a:off x="8892639" y="5319475"/>
            <a:ext cx="3143416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Extendable into a </a:t>
            </a:r>
            <a:r>
              <a:rPr lang="en-GB" sz="1091" b="1" i="1">
                <a:solidFill>
                  <a:srgbClr val="FFFFFF">
                    <a:lumMod val="50000"/>
                  </a:srgbClr>
                </a:solidFill>
                <a:latin typeface="Calibri" panose="020F0502020204030204"/>
              </a:rPr>
              <a:t>Central Sponsor Activation Control Tower,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linking guest sentiment, feedback, and rights compliance in real time . 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E19B77B4-2647-62BF-01AE-84584378A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CD762135-873A-C692-81B4-C644F893F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1636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D6ACC81B-CED1-6355-B1D0-46C4E1355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69451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D222FD3C-5899-DD22-62A4-A1822A4D3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9572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AFCB68F8-2E06-CA2E-39E5-FC80BC2FF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737B70B-C559-5189-ACC1-C0F3054CF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96AB8FDA-1835-C116-4475-76C8A98CE3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33D4472-5372-585B-F80E-F4420C6290C8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9AFF7F8D-3CFC-D015-6FD0-34DE9E646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0B15954-F259-1D54-DA76-3865300A5B11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0DC28B9-43A3-1165-2072-51161CC09A61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00593-E952-0419-2D7E-3E4AEA10B665}"/>
              </a:ext>
            </a:extLst>
          </p:cNvPr>
          <p:cNvSpPr txBox="1"/>
          <p:nvPr/>
        </p:nvSpPr>
        <p:spPr>
          <a:xfrm>
            <a:off x="8892639" y="6119973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827A7CB9-AEB4-4D75-1E32-97D3DA488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716B6A9-AFF3-3C1F-D1C4-AA56CF522F1E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F534ED02-164B-4DC0-4373-63DDAA678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2639B6D0-3169-69BD-4FC2-769DF76E6E4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041053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CC382-E256-F947-CA06-319AC1E75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1CC53-5FD1-8FCC-5E7F-A16AE8058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2 – S2 - Partner Rights &amp; Asset Manager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D631A1-00A2-6DE1-4641-33859BEA509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285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16107"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The team manually builds and maintains rights and deliverables spreadsheets for each sponsor, which are prone to inconsistency across users.</a:t>
                      </a:r>
                      <a:endParaRPr lang="en-US" sz="1200">
                        <a:solidFill>
                          <a:srgbClr val="000000"/>
                        </a:solidFill>
                        <a:latin typeface="+mj-lt"/>
                        <a:ea typeface="Lato regular"/>
                        <a:cs typeface="Calibri"/>
                      </a:endParaRP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There’s no unified, structured system to map entitlements across race events, leading to misalignment or gaps in execution.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Approval of branding, apparel, and activation assets lacks a formal validation process and relies heavily on team awareness.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central digital system to maintain race-wise deliverable setups, validate creative/branding inputs, and align sponsor rights visibility across the team.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1">
                          <a:latin typeface="+mj-lt"/>
                        </a:rPr>
                        <a:t>Replace manual rights </a:t>
                      </a:r>
                      <a:r>
                        <a:rPr lang="en-GB" sz="1200" b="0">
                          <a:latin typeface="+mj-lt"/>
                        </a:rPr>
                        <a:t>spreadsheets with structured digital mapping tools.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Offer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version-controlled asset tracking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(e.g., branding, apparel, hospitality).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Include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approval workflows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to validate placements, visibility, and fulfilment.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Serve as a </a:t>
                      </a:r>
                      <a:r>
                        <a:rPr lang="en-GB" sz="1200" b="1" i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shared operational reference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for PR, Partnerships, Creative, and Legal.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Contract Metadata Parser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(OCR/AI-enabled) to extract rights from PDF contracts.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Asset Management Module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digital upload, review, and visual validation (e.g., logo size,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color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Apparel Tracker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with approval logs, batch inventory, size allocation, and usage reporting.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Dashboards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visualize what’s been committed vs delivered (race-wise, sponsor-wise).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Integration-ready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with existing creative or brand systems (if required).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8EFFB74-B394-4ECD-6AFF-4381351E1F4E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9139AE0-6BDC-D105-D196-CA31D31E32B9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64E992-6255-B415-F569-7B03C65ED31D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Eliminates manual confusion and misinterpretation of partner entitlements.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escalation due to branding or apparel errors.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Speeds up internal alignment and approvals with one authoritative view.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transparency and brand governance across events.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ED2CF5-142F-8FFC-2C5F-DE605C3CFBB0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Real-time access to sponsor rights and branding assets per race.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Increased confidence in partner delivery, minimizing last-minute firefighting.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Strengthened compliance and brand consistency across events.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Streamlines multi-team coordination, reducing race-day friction.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1C1DD1-B091-7CFE-E31E-E77271819809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9AE617B-B880-AF24-55B3-693EEA99D8ED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7955094-3693-DCD0-6BA0-99A64EA014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D3B34BB-339B-DF97-F47F-505A0EB38EA2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87D867E-FE66-2518-F85A-D2E9ACF867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FB26E12-A763-1CD0-F61C-3CBB233F2DAD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A066A7B-CCED-55E7-A354-B31AC970896C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1444CD9-DEC8-6161-6DDA-E6B69C6B80DE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4-5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929C21-4FDA-B994-69BA-51D28A6A659C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(Workflow Developer, Data/AI Engineer)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069D43A-E5B4-543F-6DB2-4104A637775F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8DB371-4A68-BDA1-7B14-B0A69CEBCD35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DDEB5F2-57AB-E5C6-3ED1-BA6E7A569C08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71ED5351-4A1A-BA62-2EE2-C1AC620E3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E96912A-BD99-31A4-B9BF-FDC5645A23CB}"/>
              </a:ext>
            </a:extLst>
          </p:cNvPr>
          <p:cNvSpPr txBox="1"/>
          <p:nvPr/>
        </p:nvSpPr>
        <p:spPr>
          <a:xfrm>
            <a:off x="8892639" y="5319475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Forms the foundational layer for integration with </a:t>
            </a:r>
            <a:r>
              <a:rPr lang="en-GB" sz="1091" b="1" i="1">
                <a:solidFill>
                  <a:srgbClr val="FFFFFF">
                    <a:lumMod val="50000"/>
                  </a:srgbClr>
                </a:solidFill>
                <a:latin typeface="Calibri" panose="020F0502020204030204"/>
              </a:rPr>
              <a:t>Sponsor Onboarding &amp; Handover Toolkit</a:t>
            </a:r>
            <a:endParaRPr lang="en-GB" sz="109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B75F9E2-6526-436F-063C-21D491D23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B09F7566-DDC6-A07D-2484-BF652CD4E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035C837-867E-38DD-FD30-6FC1B39D8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6E25BA5E-3BA9-B07A-FC0B-57C62962E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08E50136-8EDF-3489-64A0-91A103BF2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A26BD1E1-F1E8-DCF6-700D-27754D6D4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3C8BB9D1-E588-0545-7C7F-58C83BEC01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BEF4E43-14D3-B390-CF5A-1A907FF13464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89F5490E-8959-10CC-54D8-50916C58F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0EF6B80-C657-C9E0-9604-D3615206A31A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71CE8535-2201-2D42-D950-6888181C1FE0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D742C-3882-ABD1-C7B9-A0E97AA13FC0}"/>
              </a:ext>
            </a:extLst>
          </p:cNvPr>
          <p:cNvSpPr txBox="1"/>
          <p:nvPr/>
        </p:nvSpPr>
        <p:spPr>
          <a:xfrm>
            <a:off x="8892639" y="6119972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Commercialised Solution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A7C13359-DEBC-082F-B40A-7106F28E8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669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48454B1-0041-BF79-D9A6-9FE9E03A4108}"/>
              </a:ext>
            </a:extLst>
          </p:cNvPr>
          <p:cNvSpPr txBox="1"/>
          <p:nvPr/>
        </p:nvSpPr>
        <p:spPr>
          <a:xfrm>
            <a:off x="10215670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7A422DE3-B9D1-BE57-B56C-E96FD1022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94272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4A41F98E-4BB4-2887-BA17-77F061158C2C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926681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27EC7-5C37-391A-A8D6-673DAA44E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B852-31F3-C62B-D620-D7CF3F14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2 – S3 - Sponsor Ticket &amp; Experience Allocator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B61253-0E5B-99DF-47AA-38DD31C5EAD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699496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0" indent="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+mj-lt"/>
                          <a:ea typeface="Lato regular"/>
                          <a:cs typeface="Calibri"/>
                        </a:rPr>
                        <a:t>Ticket allocation is handled manually via spreadsheets and messages, leading to: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Inconsistent guest experiences.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Delays and confusion during race-week coordination.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centralized view of seat usage, overbooking, or VIP tiering.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race-level coordination tool that automates guest pass allocation and ensures experience consistency across sponsors.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>
                          <a:latin typeface="+mj-lt"/>
                        </a:rPr>
                        <a:t>Centralize </a:t>
                      </a:r>
                      <a:r>
                        <a:rPr lang="en-GB" sz="1200" b="0">
                          <a:latin typeface="+mj-lt"/>
                        </a:rPr>
                        <a:t>guest ticket pool by race and partner.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Enable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role-based ticket booking based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on sponsor entitlements.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Include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tiered access logic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(e.g., hospitality lounge vs. grandstand).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Integrate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experience preference tagging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(e.g., garage tour, pit-lane walk).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Real-time </a:t>
                      </a: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allocation status view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to avoid duplication or errors.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Entitlement Matrix 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 from onboarding toolkit (S2.1) for guest tier definitions and sponsor rights.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Booking Workflow: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Form-based ticket requests and approvals using SharePoint/PowerApps.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Dashboard View: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overview of pass allocation, tier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fulfillment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, and pending requests.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849E735-4FE8-EDB3-DA93-C45E7CAFF103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F73842F-EC62-D147-B395-AB648599C8CF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4FE820-93A7-E5CE-AB1C-580265A4D1D7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Eliminates ticketing errors and delays.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coordination effort during race week.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fair and transparent allocation based on partner tiers.</a:t>
            </a:r>
          </a:p>
          <a:p>
            <a:pPr defTabSz="914241">
              <a:defRPr/>
            </a:pPr>
            <a:endParaRPr lang="en-GB" sz="12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0C8D68-0736-5BD6-557D-FC586D22F03D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Central source of truth for all guest allocations.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Improved guest experience and VIP satisfaction.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Better data capture for post-event reporting and ROI insights.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64EBCD-3F80-3BCD-AEF9-903618DBC62E}"/>
              </a:ext>
            </a:extLst>
          </p:cNvPr>
          <p:cNvGrpSpPr/>
          <p:nvPr/>
        </p:nvGrpSpPr>
        <p:grpSpPr>
          <a:xfrm>
            <a:off x="7983113" y="406047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FF7E596-B6DB-CA08-07A3-BEA1B57EC513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E98CB13-7F0D-A751-BA8C-39C0E9ADA9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5BF6C5-20A1-2BA3-4C10-28EA4CD2D7AD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C31DE5A-BC6A-9E6A-EC4E-25903AC3D8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DCB765-39F5-B754-7B2E-11CD10C3109E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61AEF8B-ADE6-DE29-D579-3ED17410675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496326-4D6F-AEAF-CB02-66DD757BE3A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3-4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7AF7CD-1714-4B00-2404-6EAAF9668EB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(PowerApps/Workflow Developer, Data/AI Engineer)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2C03A0B-A8F7-F4F9-8ABF-C32DE8A2A37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A0EE24-3EC6-0903-A92A-F06BA440C78B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3DFCDA-6D92-B6A7-FD7C-643D0FD0DB72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308A163E-3EE6-C449-F83F-B9A0CC1E5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29827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E0A1782-33C6-8767-E641-8649B1D9289E}"/>
              </a:ext>
            </a:extLst>
          </p:cNvPr>
          <p:cNvSpPr txBox="1"/>
          <p:nvPr/>
        </p:nvSpPr>
        <p:spPr>
          <a:xfrm>
            <a:off x="8892639" y="5319475"/>
            <a:ext cx="3143416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Integration into a broader</a:t>
            </a:r>
            <a:r>
              <a:rPr lang="en-GB" sz="1091" b="1" i="1">
                <a:solidFill>
                  <a:srgbClr val="FFFFFF">
                    <a:lumMod val="50000"/>
                  </a:srgbClr>
                </a:solidFill>
                <a:latin typeface="Calibri" panose="020F0502020204030204"/>
              </a:rPr>
              <a:t> Sponsor Experience Management Hub</a:t>
            </a:r>
            <a:endParaRPr lang="en-GB" sz="1091">
              <a:solidFill>
                <a:srgbClr val="000000"/>
              </a:solidFill>
              <a:latin typeface="Calibri" panose="020F0502020204030204"/>
            </a:endParaRP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1B42FD1-0072-B119-0309-2C221CD2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1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BCA23CBA-3C60-7290-2AB3-D8C3ECEC2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3757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BAC116EE-F75F-A356-A46B-478577A32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1572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C857586-8D82-99BB-D7EA-2D2EB5C98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169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F9B94634-72E9-A900-6EB3-CECA3D13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185687D-0FBF-0FF5-B3E9-7876C37EDB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DCAB491-16B7-35F9-5339-12721EF2D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229A301-CA2B-39EC-0914-B70480882ADB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6F6EB273-B087-84D1-0D57-3104DD3B8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FC18422-47C2-AC49-3237-86C9E8E19EF6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4CA85C87-0048-CF31-7C43-8AE6711E2747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AC60DF-FE6D-034F-E0F8-8429380730F5}"/>
              </a:ext>
            </a:extLst>
          </p:cNvPr>
          <p:cNvSpPr txBox="1"/>
          <p:nvPr/>
        </p:nvSpPr>
        <p:spPr>
          <a:xfrm>
            <a:off x="8892639" y="6172979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Commercialized Solution</a:t>
            </a:r>
          </a:p>
        </p:txBody>
      </p:sp>
      <p:pic>
        <p:nvPicPr>
          <p:cNvPr id="22" name="Picture 20" descr="Flag - Free flags icons">
            <a:extLst>
              <a:ext uri="{FF2B5EF4-FFF2-40B4-BE49-F238E27FC236}">
                <a16:creationId xmlns:a16="http://schemas.microsoft.com/office/drawing/2014/main" id="{E17403E9-0318-2610-6192-BB6B30863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C245827-EE6C-E89B-4910-2C4FFE59074B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31" name="Picture 30" descr="Lightning bolt - Free technology icons">
            <a:extLst>
              <a:ext uri="{FF2B5EF4-FFF2-40B4-BE49-F238E27FC236}">
                <a16:creationId xmlns:a16="http://schemas.microsoft.com/office/drawing/2014/main" id="{F4E3918D-42D6-FFBD-C9EB-94BF09EBC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Arrow: Left 31">
            <a:hlinkClick r:id="rId16" action="ppaction://hlinksldjump"/>
            <a:extLst>
              <a:ext uri="{FF2B5EF4-FFF2-40B4-BE49-F238E27FC236}">
                <a16:creationId xmlns:a16="http://schemas.microsoft.com/office/drawing/2014/main" id="{1453FE24-2058-E5B7-BB1E-ABB306C540C7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982946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49647-6347-AB70-5854-8A7C8D8F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14CDF-E8AB-708F-63FA-F1005AC59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2 – S4 - Auto-Linked Sponsor Invoicing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7A55E1-AB7C-6FE1-E4E8-A726AD3801D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72277"/>
          <a:ext cx="11463036" cy="36508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081867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All partner invoicing across sponsorship fees and rechargeable items is manually tracked by the partnership team.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Lack of a centralized, real-time system creates potential risks of human error, misalignment, and loss of information.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validations of deliverables and corresponding invoices require back-and-forth across teams, slowing finance workflows.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direct traceability from deliverable completion to invoice generation, leading to inefficiencies in financial reporting and revenue recognition.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connected system that integrates deliverable tracking with invoice generation..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Auto-capture fulfilment milestones for each sponsor (e.g. event activation, ticket allocation, branding placement).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Generate draft invoices for sponsorship fees and rechargeables based on validated deliverables.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Include partner-specific invoicing rules (e.g. by race, asset category, contract terms).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Offer digital approval workflows between Partnerships and Finance teams before submission.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Provide real-time dashboard of invoicing status, value pipeline, and payment tracking per partner.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Deliverable Tracker 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Pulls fulfilment data from the Partner Rights &amp; Asset Manager system.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Invoicing Logic Builder: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Configurable rules for partner-specific billing cycles, rates, and categories.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Approval Workflow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SharePoint/ServiceNow/ PowerApps-based digital approvals between Partnerships and Finance.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Dashboard View (Optional):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invoicing cockpit showing pending, approved, and paid invoices.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Hooks: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Readiness to link with JLR’s core finance or enterprise systems.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CDE78C-6F76-E808-04D3-FACB5DA06676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5F49C2B-6DB0-D5B9-DD73-21F8D3ECFCA3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EEE126-A2D5-94BB-DE24-EF5AF1914834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seamless invoicing with structured traceability and fulfilment linkage.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missed or delayed revenue recognition across races and seasons.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internal controls and reduces compliance risk through audit-ready workflows.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00B707-3613-80B0-66BD-E60805175A00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Faster, more accurate invoicing aligned with deliverable milestones.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Reduced manual effort for tracking and reconciling.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Greater visibility into sponsor value realization, helping strengthen commercial relationships.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9757FE-0FE3-D112-A186-1A42BABEB962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AAAAEF7-F7F2-223D-125D-546541BA855B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72AD9B8-64E7-0F45-C27A-2EB0135819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93A70E-CDF7-17E6-2331-AD1625E026D4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356B075-22F1-50BC-D023-CA5D549E17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BC34B65-5C39-784C-A2D1-B35EA1CC2FE0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ED78459-DF84-AD41-AD77-3083E84BABA7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3BE721-5609-A830-C049-7F775A466A36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4-6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52A8EE-A936-3126-195E-CF7F7330709B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(PowerApps/Workflow Developer, Automation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4DE1A5B5-ABF4-DEA9-079C-8365D95BEED9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97C5CEF-86D5-2D71-C903-39B51BED2D1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E8BD1E-BE1F-695E-1E1F-AF404749C36F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3CDB4625-1CB5-050E-4D04-D4214FB77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88C7FBC-230B-63D0-4991-ED57DD9E07B9}"/>
              </a:ext>
            </a:extLst>
          </p:cNvPr>
          <p:cNvSpPr txBox="1"/>
          <p:nvPr/>
        </p:nvSpPr>
        <p:spPr>
          <a:xfrm>
            <a:off x="8892639" y="5467897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Extend into a broader </a:t>
            </a:r>
            <a:r>
              <a:rPr lang="en-GB" sz="1091" b="1" i="1">
                <a:solidFill>
                  <a:srgbClr val="FFFFFF">
                    <a:lumMod val="50000"/>
                  </a:srgbClr>
                </a:solidFill>
                <a:latin typeface="Calibri" panose="020F0502020204030204"/>
              </a:rPr>
              <a:t>Sponsor Finance Module,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linking budget allocation, recharge tracking, and sponsor profitability views.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5D5CBAAB-3343-F8AB-1AC9-5357B8106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FF634E4-669D-4925-05F2-F9FEED6E4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1035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05B3A712-DCCA-DF8E-693F-4DFB872A6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8850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BD9CE996-0A33-5FEE-46A0-4B366A9DC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8971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CF58219C-406E-F256-726B-72AD7476B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73B4D9C-3D5A-A9C8-E70F-D69FCD6DA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6966BF67-790A-E990-5A64-AAEEC5F391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ADB3ADD-6A00-3C65-DA51-D301A267AA15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1DBE67AE-87E1-2C64-D76E-DA56702D0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92C6C0F-6398-6C48-14B3-E8CE729559AA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ED30F00B-1262-1FA6-D95E-724C20225F23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8BEF5-AEBA-F57A-DBA0-83D9E95FB702}"/>
              </a:ext>
            </a:extLst>
          </p:cNvPr>
          <p:cNvSpPr txBox="1"/>
          <p:nvPr/>
        </p:nvSpPr>
        <p:spPr>
          <a:xfrm>
            <a:off x="8892639" y="6215389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37072F06-6FD9-5BFF-2B72-42461E8A8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1867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8A91E72-2C75-B5E2-1A86-9BA905D84E15}"/>
              </a:ext>
            </a:extLst>
          </p:cNvPr>
          <p:cNvSpPr txBox="1"/>
          <p:nvPr/>
        </p:nvSpPr>
        <p:spPr>
          <a:xfrm>
            <a:off x="10183867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B366F214-CEAD-1002-9509-9DA35D8CEF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469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879CF46F-F890-4BB2-1A8D-E84C4998E608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117263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D004-6FDB-957F-29D3-81D810DB7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5A3A9-CC1D-6E91-9421-46805C461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3 – S1 - Guest Journey &amp; Activation Orchestrator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9FF3EA6-3E0C-AF2B-A031-050212268CE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0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real-time visibility of guest engagement, movements, or interactions.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itinerary management (Excel/WhatsApp) limits personalization and agility.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Last-minute changes not captured systematically; prone to coordination gaps.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digital control centre that: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Tracks real-time guest journey across touchpoints (check-in, hospitality suite, activations).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Supports itinerary creation, credentialing, and custom tagging for different guest types (media, partners, VIPs).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Captures digital attendance and feedback at key experience points.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Integrates with QR/NFC-based passes, live dashboards, and storytelling logs for PR/partnership teams.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Itinerary Engine (PowerApps/ServiceNow):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Guest profile-driven itinerary planning and update tracker.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Activation Check-In Logs: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QR/NFC-enabled event scanning.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Digital Feedback Plug-In: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Short-form sentiment surveys linked to key touchpoints.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updates shared with ticketing, suite setup, and post-event analysis modules.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D2334E6-04D4-9BEE-EF6F-FB18084C75EF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8EEE2A-A0DD-13B6-AFBF-6741D7D61837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D3807E-C847-6535-E1C0-2AB0239CAC21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Centralized visibility of guest journey.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Easier exception management (missed guests, duplicates).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Supports personalization of future experiences.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468F68-86B3-8CFF-73AB-ADAA256201ED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Improved guest experience.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Data-backed storytelling and engagement benchmarking.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Reduced chaos during last-minute changes.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A1BF24-648E-1C2F-E114-23AE0AA85FA0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C101F6-6DBA-F19D-9C2F-FF1B6CE55727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64ABB1E-04D0-BDE3-875A-E0608B6D9F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5F26599-C657-312D-627A-F7D105B8D3F0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5639D5E-BC1F-B740-DDC6-C68E8FA266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80635F-CE7F-9C07-17D9-41937BA09FB1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EF00CED-12F5-0F83-CD48-55635F1B028E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9AD5D2-4549-16F9-FDFF-7BC2803B34A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4-6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104E752-19E0-FDB4-5F9A-9BC71D3C18D4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(Developer / </a:t>
                </a:r>
                <a:r>
                  <a:rPr lang="en-GB" sz="1200" err="1">
                    <a:solidFill>
                      <a:srgbClr val="000000"/>
                    </a:solidFill>
                    <a:latin typeface="Calibri" panose="020F0502020204030204"/>
                  </a:rPr>
                  <a:t>Ux</a:t>
                </a:r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 Specialist)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79483F4-6273-DD21-EF5D-B610EB71E937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EF653DC-33AA-8D92-28EB-C99B6219EA7C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90C515-94E3-1069-F88D-73AA4CBB98F6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3A33798F-50A8-7CD9-D7B8-1EB7DF26E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B948236-75C0-ED9D-C663-127AC6AE4174}"/>
              </a:ext>
            </a:extLst>
          </p:cNvPr>
          <p:cNvSpPr txBox="1"/>
          <p:nvPr/>
        </p:nvSpPr>
        <p:spPr>
          <a:xfrm>
            <a:off x="8892639" y="5467896"/>
            <a:ext cx="3143416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Links with broader CRM and personalization engine.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2F40D8F-8021-0FB1-3721-D209AC15B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0E36941-F829-B8F9-BC4B-6CC78AEBE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7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95E7722A-192D-774F-CE69-0C87CDFA4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2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549B964D-9166-BF4E-C832-C3B8B1549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3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449883B1-BEC3-C81D-C818-858C1F3AB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1E730263-FDC0-AB6F-F251-6AAC0DA1A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5229DDB-BECD-CD4A-0047-AB79851EF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EBF80DB-FB4B-DA37-B7A7-AD788229DA24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ABE6572-0A3F-7623-A47D-8BA176E7A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4079AB8-61DD-0907-D325-BEEC45089A29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DF653A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22676F17-B981-EDBC-0BB1-EC1937B4B689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3C38C2-01D9-C2ED-1B55-C2BAA5CBC653}"/>
              </a:ext>
            </a:extLst>
          </p:cNvPr>
          <p:cNvSpPr txBox="1"/>
          <p:nvPr/>
        </p:nvSpPr>
        <p:spPr>
          <a:xfrm>
            <a:off x="8892639" y="6215389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9D2A2BD3-F48F-B668-0BDD-11D333A6D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847" y="12835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BFEAA31-BA63-7224-BF0F-78A10C7455B9}"/>
              </a:ext>
            </a:extLst>
          </p:cNvPr>
          <p:cNvSpPr txBox="1"/>
          <p:nvPr/>
        </p:nvSpPr>
        <p:spPr>
          <a:xfrm>
            <a:off x="10077847" y="130242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63917CD3-289E-35A3-8BE3-DB68B3E09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449" y="152352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8C15E316-24D3-12D1-ABAE-1E94D1704F9C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30724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3FF4D-6897-765F-D7D4-6EEC7C7A9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05550-2B83-E01B-389C-67F30FCD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3 – S2 - Centralized Ticketing &amp; Allocation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D6614D-E258-49A2-5B13-B9E3C9C77D04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82879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Ticket allocation is managed manually using spreadsheets and WhatsApp, resulting in frequent errors and fragmented records.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There’s no structured visibility into who has been allocated what, under which sponsor, and for which zone (hospitality, Emotion Club, grandstand, etc.).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JLR purchases tickets centrally but lacks a unified platform to track utilization or consolidate records from FIA post-event.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Centralized Ticketing &amp; Allocation Console that: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Serves as the single interface for uploading, assigning, and tracking all tickets by race, type, and sponsor.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Automates allocation workflows based on entitlements from S2.2 (Partner Rights &amp; Asset Manager).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Enables real-time status tracking for assigned, unused, and pending tickets.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Allows tagging by guest name, sponsor, ticket type, and location (</a:t>
                      </a:r>
                      <a:r>
                        <a:rPr lang="en-GB" sz="1200" b="0" i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linked to </a:t>
                      </a:r>
                      <a:r>
                        <a:rPr lang="en-GB" sz="1200" b="1" i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S3.1</a:t>
                      </a:r>
                      <a:r>
                        <a:rPr lang="en-GB" sz="1200" b="0" i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for guest tracking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Generates post-race ticket utilization logs for internal reporting and sponsor visibility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Upload Module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FIA ticket dumps (manual or semi-automated).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Allocation Workflow Engine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based on entitlements and tier logic.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Usage Dashboard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tracking issued vs. unissued tickets.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Guest Tagging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Assigns tickets by name/sponsor with zone-tier visibility.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Optional: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Exportable reports for reconciliation with FIA data.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B31F0A-ABB9-64B1-9236-9776A7DCF412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AB2FA15-8E9E-C7C4-ABDA-F099E72C4185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BAD9B-4565-269C-D5CF-3DFA04E284C3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Eliminates manual tracking errors.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structured, entitlement-aligned ticket assignment.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sponsor reporting and underutilization diagnostics.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9BFFF-6D07-A416-8AA0-0F0E74307B12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Faster and error-free ticket allocation.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Better transparency for partnerships and hospitality teams.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Post-event data to inform future ticketing and tier strategies.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00F9008-2CDB-7FBA-170C-16609A76558A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46E0B15-9808-8E7D-760E-20B848F589F4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39458D0-BFBD-062A-FB0C-90852AAE79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E29AF1-D7E0-5BA4-4494-8DAA2B924BB1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981DAE6-EC08-5868-85AF-AF3BF2D115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142F957-4FD2-A3FC-D09B-3AFE80FEB8DC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237E255-986A-2E3D-F84F-219C1BFF2B1C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388F24-8559-6A87-2F7B-F309CD1B5DBF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3-4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174CB6-2ACA-87AD-60F4-28C88FCC67DD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(PowerApps Developer, Ops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C293EF5-CD8C-311A-CD0C-FC4C80D4EA76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F6ECCB4-DEB6-72DD-55CD-DE71C883222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5E05A1-D5C2-65D2-B6E8-CDEAF0F4F811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DFF13460-80DF-D2D9-6335-929F4B8E7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018E198-13F0-C85E-CB46-01FAF7D6CB01}"/>
              </a:ext>
            </a:extLst>
          </p:cNvPr>
          <p:cNvSpPr txBox="1"/>
          <p:nvPr/>
        </p:nvSpPr>
        <p:spPr>
          <a:xfrm>
            <a:off x="8892639" y="546789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be expanded to integrate with guest experience tracker (S3.1) and billing (S2.4).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0DBEC923-A38D-D82C-F09C-09DD7AFE4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230F116B-B420-D349-AD16-E8E985660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209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46348DC3-C41B-ECCB-B3DE-6328AC58A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9910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4D6CEBF7-A9E9-EFB0-961E-07537E511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0031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626F7CF0-C2F7-BD76-D08B-2BA18C50D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081B7C8-A35F-0CCB-36B0-85B413D35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FC7F75F7-AA93-11B5-FA07-EB5F526A5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B0755D0-BEF5-509E-F563-F5016B95AFDD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D6812EE-17B0-0129-D487-0F1E30ABD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403DB08-9BE8-1CD3-BFA0-2E42816F7473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14C76ECF-F393-DDAF-8EB8-1A04F72DCDCE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A4D08-9832-1E67-5493-576F833D2250}"/>
              </a:ext>
            </a:extLst>
          </p:cNvPr>
          <p:cNvSpPr txBox="1"/>
          <p:nvPr/>
        </p:nvSpPr>
        <p:spPr>
          <a:xfrm>
            <a:off x="8913841" y="6300201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Commercialised Solution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7C28F8E8-3871-D227-D530-19286E9E5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FC49CF1-B4A7-B900-1782-181FAD7BA840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66DA7936-0EC6-1716-504C-084A5343C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C00F4153-0646-40AA-804F-FB858F1FD9CF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389791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D133F-BF66-84DD-A315-B66AD46FC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7A74E-290C-0EED-2CD2-20D9DFA76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3 – S3 - Activation &amp; Inventory Execution Hub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322BFEF-BABB-5058-0EFB-BCDFA33C99B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82879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Partner activation kits (merchandise, signage, giveaways) and hospitality assets are tracked manually via Excel and WhatsApp, resulting in missed items and last-minute improvisations.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Inventory tracking (including MOQs) is fragmented with no visibility across events, leading to overstocking or shortages.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structured process for fulfilment validation or reuse planning across the race calendar.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An Activation &amp; Inventory Execution Hub, a centralized digital tracker that: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Manages all race-wise activation items, partner kits, and inventory stock.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Tracks distribution and fulfilment status for each item against race and sponsor (e.g., partner brochures, welcome gifts, branded wear).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Captures location-based suite requirements, layout customizations, and late-stage adjustments.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Enables stock forecasting, MOQ monitoring, and reuse flagging between races.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Integrates with S2.2 to cross-check deliverables tied to sponsor rights.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Inventory Tracker Module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by event, sponsor, and item type (with MOQ thresholds).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Fulfilment Checklist Interface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tag delivered, pending, or substituted items.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Hospitality Setup Tracker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log suite specs and visual asset requirements.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Reporting Layer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analyze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usage, loss, and stock movement trends.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60D503-7788-AB7B-1B8A-BCB0216450A7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E38BF7-DB6B-6970-AE81-03EAB8AAC2E0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2DEF9-58F0-E01D-1E98-6F568D609C62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smooth and consistent activation experience across venues.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wastage and overordering of merchandise or collaterals.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Increases reliability and accountability across on-ground teams.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CAACF-715F-DC94-96BB-682BAF601467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Streamlined fulfilment and stock visibility per race.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Predictable ordering cycles with automated alerts.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Improved execution quality across suites and guest touchpoints.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CE4956E-8C1D-A33F-2BB5-D568D5FE5A56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38AEF3D-805B-1C89-EAB7-C2899ABC6132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9CD1D4B-D421-27A2-676B-95717EDD68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D49BE5A-FBA2-00DF-4504-6EB74FBF115F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3717587-9616-DE78-F19A-96FADD9F46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F36AD5B-C646-BD58-8600-EE83071007A0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CAB540B-75CC-9C19-AF80-C18B95EEDDC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EB6E0B-F8E3-9D2C-0FE9-29B7517BEAB8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B702177-A96B-7B01-2454-0ADB3608DA8E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(Workflow Developer, Ops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A0D76841-18F7-02D7-57A5-2D7CD59CE5DE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3DAC24-9A5C-CD4E-0667-02B3F9C07EC7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729322-5A21-36E0-E2AA-55A128AC69E1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CB4A5240-494C-7CA7-B6B8-4FF79CD9A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334FAA8-A069-2984-A4E5-DE411CADB4B2}"/>
              </a:ext>
            </a:extLst>
          </p:cNvPr>
          <p:cNvSpPr txBox="1"/>
          <p:nvPr/>
        </p:nvSpPr>
        <p:spPr>
          <a:xfrm>
            <a:off x="8892639" y="546789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full Supply + Hospitality Inventory Manager for global partner events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411D88C-C483-D90C-FDD1-AD8A03C34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B965FC0-6390-2BFE-1A4B-00C27A8C1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209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30802060-19E4-02AB-530C-610281D15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9910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69574E59-6B60-1ED6-5AAA-6F2C4DA1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0031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E6F5D79A-8596-75C1-E5C3-AAD4DB5E3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BB3C2E76-94AF-185E-7ECC-E845D414C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76E11010-4877-A9F9-1C3F-F997C9D52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4FF77A5-230A-ADE9-C8EA-94E591538C39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1CAC67F-E5AD-7E09-47B3-383DC0294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9D64827-2C54-9E02-6296-F8B964EE3565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AE3395A-7818-E08D-4B7B-BE23CB072F2C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34BC10-6379-D8E7-DF66-BDC53010F869}"/>
              </a:ext>
            </a:extLst>
          </p:cNvPr>
          <p:cNvSpPr txBox="1"/>
          <p:nvPr/>
        </p:nvSpPr>
        <p:spPr>
          <a:xfrm>
            <a:off x="8892639" y="6215389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37A56629-22F4-5668-8673-3F3B685F37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06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1E1F165-C712-6087-A6AD-97692A9A13BC}"/>
              </a:ext>
            </a:extLst>
          </p:cNvPr>
          <p:cNvSpPr txBox="1"/>
          <p:nvPr/>
        </p:nvSpPr>
        <p:spPr>
          <a:xfrm>
            <a:off x="10152062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A046C6CF-2429-25FD-4FAD-9BEF5159D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664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3DA09C3B-30FF-C6D0-B90C-1EEAAE9AAE5D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650617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AF07-1C22-805D-B858-C4FCBC90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19F5-462A-4171-4D05-BB586A94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3 – S4 - Feedback Capture &amp; Engagement Insight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B15339-43D8-E343-C128-C7CABA5AA77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82879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There is no formal mechanism to collect structured feedback from guests, sponsors, or internal teams after race events.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Valuable insights about the experience, suite setup, activations, and logistics are lost or passed informally.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There’s no centralized view of guest sentiment, pain points, or what worked well to guide future planning.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Feedback Capture &amp; Engagement Insight Engine to systematically gather, categorize, and visualize guest feedback linked to the event journey: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Deploy digital feedback forms post-event via QR code, email, or SMS.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Capture responses tied to sponsor, guest type, zone (e.g., Emotion Club, garage tour), or activity (e.g., pit walk).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Use AI tagging or manual </a:t>
                      </a:r>
                      <a:r>
                        <a:rPr lang="en-GB" sz="1200" b="0" kern="1200" err="1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labeling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 to extract key themes and satisfaction scores.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Feed into experience benchmarking dashboards for future planning, partner reporting, and narrative development.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Mobile/Web Feedback Forms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(Forms,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Typeform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, PowerApps) linked to guest records (via S3.1).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Sentiment Analysis Module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(NLP, keyword tagging, or dashboard filters).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Experience Heatmaps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to identify strong and weak touchpoints by location/event.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Reporting Dashboard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PR/Partnership teams to share highlights and sponsor summaries.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AE89A0-BC59-6608-A2A8-1F448997CC36}"/>
              </a:ext>
            </a:extLst>
          </p:cNvPr>
          <p:cNvSpPr/>
          <p:nvPr/>
        </p:nvSpPr>
        <p:spPr>
          <a:xfrm>
            <a:off x="364482" y="4060472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D3D7C45-8329-D124-16DD-BFB5127D6214}"/>
              </a:ext>
            </a:extLst>
          </p:cNvPr>
          <p:cNvSpPr/>
          <p:nvPr/>
        </p:nvSpPr>
        <p:spPr>
          <a:xfrm>
            <a:off x="4310098" y="4060472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2B5C57-C994-807D-178A-6D7323396813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Captures the voice of guests to inform future activations and suite design.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storytelling for sponsors with real guest data.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Helps commercial teams identify emotional triggers and retention risks.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65CEE0-83CA-141F-13D9-242FC7AA355F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Post-race partner reporting becomes more insightful and data-backed.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decision-making on suite layout, staffing, and gifting.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comparison across races and continuous improvement.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7645258-7E0E-AB7D-856A-78F0E7F41294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0D1FC82-C117-AD4B-610F-A349385F99C0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586B766-747E-F87D-A9E5-E186F88AF1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A9A5CD-C4EA-AFEC-334A-8C2A4C501049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F6923DF-DA7E-89DA-5444-685037F9A0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E939D1-DC7A-9FDC-1261-8CDC9DC5E0D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A9FFBDB-26DE-DE33-9B5A-E5C79D00EF66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B652BB9-08C4-385F-FD38-3E248287FE3D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E6B619-6776-F747-1E08-9CFF312BF68E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1 FTE (Dashboard/Insights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336CED5-9B90-820E-3A48-E8D97C8E0FB2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000BBE3-8A2B-3EFA-C2E7-803491F9F4D3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E945711-8F24-6F20-D32D-900EF9936A21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7D7F5521-F329-A9A9-C7D0-3595276D5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E87BA7D-FFA0-7E3F-633D-E4547856622B}"/>
              </a:ext>
            </a:extLst>
          </p:cNvPr>
          <p:cNvSpPr txBox="1"/>
          <p:nvPr/>
        </p:nvSpPr>
        <p:spPr>
          <a:xfrm>
            <a:off x="8892639" y="546789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an end-to-end guest sentiment engine across the entire sponsorship lifecycle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2B0B6B8C-587B-8178-53BC-AC7ABD409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9796D6A-5D9A-1B18-7D5D-78FBE2268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209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14B3D827-D0F8-9495-5B0C-5F83A8BDB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9910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B9827A62-D5F2-2162-4469-F5430D959C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0031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F88E0354-A33A-CCE1-02CD-62D0A4F05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07336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5D53BF4C-427D-302C-F433-AFA90D4D75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07107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FD54C160-FFC7-4212-D88E-72A99C4AA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215C232-AF1B-66F0-CD4F-DC15F7BA43FD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00B0630A-BE66-9FA5-5F9B-B2FD611CD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038954E-90EA-B1E5-3048-3AF998604F3D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DCF3B2A6-C86C-6B30-6E04-7BC9A2C60365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1CD165-EB34-27FD-EE70-A282A7F105F8}"/>
              </a:ext>
            </a:extLst>
          </p:cNvPr>
          <p:cNvSpPr txBox="1"/>
          <p:nvPr/>
        </p:nvSpPr>
        <p:spPr>
          <a:xfrm>
            <a:off x="8892639" y="6273760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Commercialized Solution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23289F70-1633-3A83-9F45-F151E7C38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73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79A8F21-1C68-0263-63AE-963E0F987B3C}"/>
              </a:ext>
            </a:extLst>
          </p:cNvPr>
          <p:cNvSpPr txBox="1"/>
          <p:nvPr/>
        </p:nvSpPr>
        <p:spPr>
          <a:xfrm>
            <a:off x="1058673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3769BA51-CD4C-6770-0BF9-F8AFC5767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73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Arrow: Left 30">
            <a:hlinkClick r:id="rId16" action="ppaction://hlinksldjump"/>
            <a:extLst>
              <a:ext uri="{FF2B5EF4-FFF2-40B4-BE49-F238E27FC236}">
                <a16:creationId xmlns:a16="http://schemas.microsoft.com/office/drawing/2014/main" id="{5668249D-BD22-4D85-E9B9-352B45978539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66029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D8EED-004C-6C3D-0457-C05A35647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4B5D-74E5-EB0B-88C2-CEB716A2F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3 – S5 - Hospitality Suite Configurator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57792E-10F9-4F03-892D-0C0BA8907DE6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82879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Hospitality suite setup varies significantly across locations, often leading to last-minute improvisations due to layout mismatches, asset delivery issues, or unclear expectations.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 is no standardized pre-event planning mechanism to validate dimensions, configurations, or branding placements before teams arrive at the venue.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 partnership team is over-reliant on site photos, memory, and rapid adjustments during race weekends.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visual planning and validation tool that allows teams to pre-design, document, and review race-specific hospitality setups in advance: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 digital pre-configuration of suite layouts using templates based on venue profiles.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Allow tagging of branding placements, digital displays, merchandise counters, and experiential zones.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Create downloadable setup briefs for on-ground teams and vendors.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Optionally support visual feedback loops (e.g., image upload from venue vs. plan for post-check validation).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Link directly to the Activation &amp; Inventory Execution Hub (S3.3) for asset mapping</a:t>
                      </a:r>
                      <a:endParaRPr lang="en-US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Template Library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common suite sizes/layouts by location.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Drag-and-Drop Planner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using PowerApps/SharePoint Canvas or embedded diagrams.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Setup Brief Generator: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PDF/Excel exports for vendor execution.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Optional: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Image validation upload module for delivery vs. plan compliance.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B0AB668-D674-10B8-72F8-3F09A3DFD60D}"/>
              </a:ext>
            </a:extLst>
          </p:cNvPr>
          <p:cNvSpPr/>
          <p:nvPr/>
        </p:nvSpPr>
        <p:spPr>
          <a:xfrm>
            <a:off x="364482" y="4187695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124F10D-1E43-A425-25E9-59A78A67DBF1}"/>
              </a:ext>
            </a:extLst>
          </p:cNvPr>
          <p:cNvSpPr/>
          <p:nvPr/>
        </p:nvSpPr>
        <p:spPr>
          <a:xfrm>
            <a:off x="4310098" y="4187695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23A6C5-46EF-C431-9227-A0BA12852CB5}"/>
              </a:ext>
            </a:extLst>
          </p:cNvPr>
          <p:cNvSpPr txBox="1"/>
          <p:nvPr/>
        </p:nvSpPr>
        <p:spPr>
          <a:xfrm>
            <a:off x="364482" y="4470872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race-week execution risks due to poor suite planning.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Creates consistency in partner and guest experience across geographies.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faster approval and smoother delivery handovers.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E10100-B069-7F9C-F883-966DB70AA3D0}"/>
              </a:ext>
            </a:extLst>
          </p:cNvPr>
          <p:cNvSpPr txBox="1"/>
          <p:nvPr/>
        </p:nvSpPr>
        <p:spPr>
          <a:xfrm>
            <a:off x="4310098" y="4605483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Saves time during setup days.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dependency on key individuals’ memory/oversight.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brand professionalism in high-visibility spaces.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0614A4D-B4F7-F915-B238-C1FC8DD796DF}"/>
              </a:ext>
            </a:extLst>
          </p:cNvPr>
          <p:cNvGrpSpPr/>
          <p:nvPr/>
        </p:nvGrpSpPr>
        <p:grpSpPr>
          <a:xfrm>
            <a:off x="7983113" y="4208893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7D8B1F4-2EDD-1C85-03DE-9E07A714D52B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DA21B94-79C2-55FB-DE98-B5127FE7DB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2F3B6E7-B6F1-F085-9797-C6F1B4F2F5DB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11A595A-AB89-F8E9-0BC1-0C2319A3B8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22FBBD-3E9A-67E3-2759-AB65012F321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4EED72D-D31E-EBC8-8985-DC94842D330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9D3910-FCF0-97EC-A0A0-1DEF60BE616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– 3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0189706-F193-465B-1D45-539F04F3221E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1 FTE (UX/Workflow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110A01E-A5C8-4012-1F7A-C3254DEE05C1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A74200-67E6-13CC-F4F2-D2B675DD1D17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2117318-5BE5-8332-0BC0-19AEAEDDBEC0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0C199462-6EF6-9BF6-B500-0641C3EB4D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44669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7D07C52-A532-CA63-8071-DA014CC49B42}"/>
              </a:ext>
            </a:extLst>
          </p:cNvPr>
          <p:cNvSpPr txBox="1"/>
          <p:nvPr/>
        </p:nvSpPr>
        <p:spPr>
          <a:xfrm>
            <a:off x="8892639" y="546789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be extended into a global Venue Experience Toolkit across other JLR business events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D666B9EA-BF2F-B170-0B96-0AE69852C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17413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94557AF-5E0B-9826-529C-C234979023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62095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9CEB1EDD-E686-F08F-624D-457565E62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99104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8D99A0B8-C4E8-8203-804F-893539C4D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60031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4192E35-A6FD-F6CA-2B14-4DD2D6345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20058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C07825E-3FDF-44EE-DD4B-CF68B92ED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9829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C9BC7DE8-9202-3F82-A08A-3E74C9B95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6245001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500A8A6-840D-93C8-6B5A-E2BF7985B2C9}"/>
              </a:ext>
            </a:extLst>
          </p:cNvPr>
          <p:cNvSpPr txBox="1"/>
          <p:nvPr/>
        </p:nvSpPr>
        <p:spPr>
          <a:xfrm>
            <a:off x="2706981" y="6245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C1631601-21B4-BD42-938D-4480D2572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6260148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A812E52-92F1-D513-E9C7-F54D43A7688B}"/>
              </a:ext>
            </a:extLst>
          </p:cNvPr>
          <p:cNvSpPr txBox="1"/>
          <p:nvPr/>
        </p:nvSpPr>
        <p:spPr>
          <a:xfrm>
            <a:off x="4728377" y="624784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CA3939A-6F01-CDBF-E1A5-7FB63B4CFC83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B48FD37A-FC9E-B79A-BA44-9F704A33E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464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F4D5E93-379A-4CD6-8A4A-579973D2FB3B}"/>
              </a:ext>
            </a:extLst>
          </p:cNvPr>
          <p:cNvSpPr txBox="1"/>
          <p:nvPr/>
        </p:nvSpPr>
        <p:spPr>
          <a:xfrm>
            <a:off x="10056642" y="77235"/>
            <a:ext cx="103714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16A6BC-7C46-2FED-4549-6BF0329D14C0}"/>
              </a:ext>
            </a:extLst>
          </p:cNvPr>
          <p:cNvSpPr txBox="1"/>
          <p:nvPr/>
        </p:nvSpPr>
        <p:spPr>
          <a:xfrm>
            <a:off x="8892639" y="6215951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C6AD6C7-8BB6-457F-D1A5-4977C480E697}"/>
              </a:ext>
            </a:extLst>
          </p:cNvPr>
          <p:cNvGrpSpPr/>
          <p:nvPr/>
        </p:nvGrpSpPr>
        <p:grpSpPr>
          <a:xfrm>
            <a:off x="10056701" y="-3092"/>
            <a:ext cx="1699259" cy="527967"/>
            <a:chOff x="7933003" y="2056719"/>
            <a:chExt cx="926184" cy="39597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634AC1D-DE45-E252-7695-D55B1F066F1E}"/>
                </a:ext>
              </a:extLst>
            </p:cNvPr>
            <p:cNvSpPr txBox="1"/>
            <p:nvPr/>
          </p:nvSpPr>
          <p:spPr>
            <a:xfrm>
              <a:off x="7933003" y="2244945"/>
              <a:ext cx="926184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554047"/>
              <a:r>
                <a:rPr lang="en-GB" sz="1200" b="1">
                  <a:solidFill>
                    <a:srgbClr val="6DB657"/>
                  </a:solidFill>
                  <a:latin typeface="Calibri" panose="020F0502020204030204"/>
                </a:rPr>
                <a:t>Future Disruptor</a:t>
              </a:r>
              <a:endParaRPr lang="en-GB" sz="1200" b="1" i="1">
                <a:solidFill>
                  <a:srgbClr val="6DB657"/>
                </a:solidFill>
                <a:latin typeface="Calibri" panose="020F0502020204030204"/>
              </a:endParaRPr>
            </a:p>
          </p:txBody>
        </p:sp>
        <p:pic>
          <p:nvPicPr>
            <p:cNvPr id="30" name="Picture 4" descr="Disruption - Free technology icons">
              <a:extLst>
                <a:ext uri="{FF2B5EF4-FFF2-40B4-BE49-F238E27FC236}">
                  <a16:creationId xmlns:a16="http://schemas.microsoft.com/office/drawing/2014/main" id="{EBA5310B-4A15-9C8F-165D-8001863AED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03112" y="2056719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2" name="Arrow: Left 31">
            <a:hlinkClick r:id="rId16" action="ppaction://hlinksldjump"/>
            <a:extLst>
              <a:ext uri="{FF2B5EF4-FFF2-40B4-BE49-F238E27FC236}">
                <a16:creationId xmlns:a16="http://schemas.microsoft.com/office/drawing/2014/main" id="{B49ACD5C-F9D1-2C14-57CF-BAD4FB8D85E2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975490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4F664-3523-58B8-8A36-7D6A9EAC3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CFC11-DB7E-011F-B7AD-94B8D7B07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4 – S1 - PR Calendar &amp; Interview Manager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0BA7BBB-3A06-096C-C442-42ECCBA5AF93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Interview scheduling and PR moments are tracked manually via Excel and WhatsApp, leading to clashes or missed opportunities.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integration with race-week team calendars, creating alignment issues with operations, partnerships, and driver availability.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Lack of auto-reserve and conflict check leads to overbooking or missed PR windows.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lightweight tool that automates interview scheduling, PR moment tracking, and media interaction workflows: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Syncs with master race-week calendar for visibility across teams.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Auto-blocks interview slots based on driver/team availability and race-day flow.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Includes pre-configured content types (media pen, broadcast, sponsor).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Enables real-time updates and visibility for all stakeholders.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Calendar 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Link with Outlook/Teams shared calendars for automated slot blocking.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Smart Slot Planner: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Rule-based allocation based on interview type, timing conflicts, and participant availability.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Media Interaction Tracker: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Logs actual moments and creates interaction records.</a:t>
                      </a:r>
                    </a:p>
                    <a:p>
                      <a:pPr marL="0" indent="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endParaRPr lang="en-GB" sz="1200" b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3526A2-DA7B-EAC5-B6E4-C9D201F20978}"/>
              </a:ext>
            </a:extLst>
          </p:cNvPr>
          <p:cNvSpPr/>
          <p:nvPr/>
        </p:nvSpPr>
        <p:spPr>
          <a:xfrm>
            <a:off x="364482" y="3890853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AB665D-54E3-2D9D-92DE-A02B51FD16EB}"/>
              </a:ext>
            </a:extLst>
          </p:cNvPr>
          <p:cNvSpPr/>
          <p:nvPr/>
        </p:nvSpPr>
        <p:spPr>
          <a:xfrm>
            <a:off x="4310098" y="3890853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BF8B9-9993-57A1-27C7-30E98320B61F}"/>
              </a:ext>
            </a:extLst>
          </p:cNvPr>
          <p:cNvSpPr txBox="1"/>
          <p:nvPr/>
        </p:nvSpPr>
        <p:spPr>
          <a:xfrm>
            <a:off x="364482" y="4174030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Prevents missed or overlapping interviews through centralized tracking.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team coordination across PR, Partnerships, and Ops.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manual communication loops.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7A07C1-DE0C-2C5C-A844-B540D1DFACC8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Optimized race-week scheduling.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Clearer visibility into interview pipeline and PR opportunities.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media moments are fully capitalized for brand value.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91A9EC-4D6A-4F93-9848-FD22AC88DD6A}"/>
              </a:ext>
            </a:extLst>
          </p:cNvPr>
          <p:cNvGrpSpPr/>
          <p:nvPr/>
        </p:nvGrpSpPr>
        <p:grpSpPr>
          <a:xfrm>
            <a:off x="7983113" y="391205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5988D9F-35F0-D57B-7293-FA2BD6533A79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9FE9124-3336-08C9-6EB9-EC66E62F63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B51CC44-27C4-DE73-3EC9-A65D69ECD513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5923A33-A2C3-6E7F-7CBD-F9257581EC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2385AF4-C58A-7B0E-BF87-60919A41B13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111A360-B7DA-F75E-551F-AB514BD5152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5175E8-4E1A-8571-AEBB-0E6CA76610D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– 3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0E34555-8FCB-5BFB-501A-BF1080CFEDE5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1 FTE (Workflow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EA6E965A-6C9C-51BD-A214-C236C64B9900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383138-4D43-8BC8-8E91-9E5D1A07936C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338EDC-A9AE-272E-22D6-AA650643390B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3F5AB78F-6912-7375-EF5E-8A7358B6C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1498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AD29D53-EF7B-1E67-B40C-5F566CE732D1}"/>
              </a:ext>
            </a:extLst>
          </p:cNvPr>
          <p:cNvSpPr txBox="1"/>
          <p:nvPr/>
        </p:nvSpPr>
        <p:spPr>
          <a:xfrm>
            <a:off x="8892639" y="5171055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be expanded to integrate with content planning (e.g., race-week storytelling, media kits, campaign rollouts)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3707AF2F-E989-F73C-1FD4-44A4BCC6A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5877289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24219477-933E-56E5-2129-4F10C978C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8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57B419E-14E0-0BF8-351A-67F3064E3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AE8D1741-39BE-A30C-1F56-D6AE76CDE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4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B30E461E-76D0-1BFA-7F65-30B8A4E02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39037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EC2268C9-00B1-EB07-10BC-D0DCCD753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390145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184EFB6-B24B-BC1D-BE8E-FCD7797D5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0B9B681-D3A0-B6A2-0F78-93A8E8BD8DF0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5833F89B-070C-EAC7-F86B-510513BCE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B762189-2CDC-B7D8-20B7-BA22B951591D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D091715B-E6AC-05FD-DF43-6D9C3033F4BF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0FA0CD1B-D233-0385-B5F8-661384A57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450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BE5AE1-7EBD-71AB-9679-6B2EDEB53AB4}"/>
              </a:ext>
            </a:extLst>
          </p:cNvPr>
          <p:cNvSpPr txBox="1"/>
          <p:nvPr/>
        </p:nvSpPr>
        <p:spPr>
          <a:xfrm>
            <a:off x="10406502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44A9B08D-4602-71F1-24AA-46D58E5B64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503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FF67265-5B07-D4DE-E40F-8461310C208B}"/>
              </a:ext>
            </a:extLst>
          </p:cNvPr>
          <p:cNvSpPr txBox="1"/>
          <p:nvPr/>
        </p:nvSpPr>
        <p:spPr>
          <a:xfrm>
            <a:off x="8903240" y="5865541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5D3644CD-93E8-A948-5CA1-FE384519E04F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8057124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6E34D-E518-6987-2046-3E22B619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8307-E62B-2846-DEF4-B3B0B084C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4 – S2 - Race Event Monitoring &amp; Commentary Tracker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0E04F7-BE11-F11D-C78C-C1C9F7396CAC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Sentiment, broadcast, and driver quotes are manually captured across TV, radio, and social platforms.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High risk of missing critical PR moments due to lack of centralized tracker or AI assistance.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Content capture depends on 1–2 individuals without real-time insights or cross-source correlation.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Race Event Monitoring &amp; Commentary Tracker that leverages AI to consolidate live media signals and track sentiment: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Real-time ingestion of race commentary, driver radio, social media, and FIA updates.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Automated tagging of mentions, tone shifts, key moments (e.g., penalties, interviews).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Contextual quote capture and AI-suggested PR highlights for faster content response.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Signal </a:t>
                      </a:r>
                      <a:r>
                        <a:rPr lang="en-GB" sz="1200" b="1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Ingestor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Pulls live media inputs from broadcast APIs, radio transcripts, and Sprinklr feeds.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Sentiment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Classifies quotes and reactions (positive/neutral/negative) using NLP.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Moment Tagger: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Identifies spikes in conversation or driver mentions for editorial focus.</a:t>
                      </a:r>
                    </a:p>
                    <a:p>
                      <a:pPr marL="0" indent="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None/>
                        <a:defRPr/>
                      </a:pPr>
                      <a:endParaRPr lang="en-GB" sz="1200" b="0">
                        <a:solidFill>
                          <a:srgbClr val="000000"/>
                        </a:solidFill>
                        <a:latin typeface="+mj-lt"/>
                        <a:ea typeface="Calibri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3A67E-40FD-13FB-15D2-F9560C793710}"/>
              </a:ext>
            </a:extLst>
          </p:cNvPr>
          <p:cNvSpPr/>
          <p:nvPr/>
        </p:nvSpPr>
        <p:spPr>
          <a:xfrm>
            <a:off x="364482" y="3890853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0443488-4693-7B74-7EA0-043E0FB30C34}"/>
              </a:ext>
            </a:extLst>
          </p:cNvPr>
          <p:cNvSpPr/>
          <p:nvPr/>
        </p:nvSpPr>
        <p:spPr>
          <a:xfrm>
            <a:off x="4310098" y="3890853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113F1-064F-DA0B-38F6-E8D9A4A62BC6}"/>
              </a:ext>
            </a:extLst>
          </p:cNvPr>
          <p:cNvSpPr txBox="1"/>
          <p:nvPr/>
        </p:nvSpPr>
        <p:spPr>
          <a:xfrm>
            <a:off x="364482" y="4174030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Minimizes slippage of high-value PR content.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Creates a consistent source of race-week insights.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cognitive burden on the PR team during high-pressure moments.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3BCE38-0753-E032-02DA-03D9FAE796F9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Real-time decision-making for media and social teams.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Faster PR content response and alignment across channels.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Structured capture improves archival and reuse potential.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682818B-A0AD-655C-2176-CBB156A67BDB}"/>
              </a:ext>
            </a:extLst>
          </p:cNvPr>
          <p:cNvGrpSpPr/>
          <p:nvPr/>
        </p:nvGrpSpPr>
        <p:grpSpPr>
          <a:xfrm>
            <a:off x="7983113" y="391205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439461D-0C34-FED0-92E0-AFA715599AD1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C4FCD6D-73DC-C3E5-CD4E-FE90C79488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AB9CCA-5E4B-0087-E1CC-E2B01C6F0C55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9FD98B63-A15C-FDAE-3F95-4E3DA355EB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3AAC864-2408-A9C3-CF69-7E0E0C8720D5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40F33A8-7D86-9F0C-8AA2-00C323DCE246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93C51A4-5ACE-32DE-B312-03823E976C27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5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3AFDEF-A43E-DF63-BC15-FFC5356D8887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it-IT" sz="1200">
                    <a:solidFill>
                      <a:srgbClr val="000000"/>
                    </a:solidFill>
                    <a:latin typeface="Calibri" panose="020F0502020204030204"/>
                  </a:rPr>
                  <a:t>2 FTE (AI/NLP Developer, Data Engineer)</a:t>
                </a:r>
                <a:endParaRPr lang="en-GB" sz="120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35F5A3E-159C-9C80-73FF-3129DB7B9553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C907F2-E5D9-5FEA-ACE4-2EA84B009BFB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220A53-8339-4344-1D44-93BA98C2CA83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C677E8FD-59F3-2D9D-0A0F-ACC21AF30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1498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611842F-115B-25C5-0CFD-C6FA53534ECA}"/>
              </a:ext>
            </a:extLst>
          </p:cNvPr>
          <p:cNvSpPr txBox="1"/>
          <p:nvPr/>
        </p:nvSpPr>
        <p:spPr>
          <a:xfrm>
            <a:off x="8892639" y="510744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full-fledged Live Race Intelligence Layer integrating media, fan, and on-track telemetry inputs for strategic storytelling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A2DABB27-0F97-A969-559C-05B5C5B12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5930296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35B02263-33E0-69E9-1E5D-002BB648D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8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1A29D42F-201F-7B3D-CB5A-5630F32C0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A9F342DD-C341-C7A9-C8F8-17CE857C3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4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E810345D-1324-E49C-EC65-65496B4A3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39037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18ED437-ECD9-BEB6-7421-004BE5340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390145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BAEBB228-3A12-5F05-6868-2637050D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980CA3A-CA01-4731-FE8F-6E88A80982F4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A0E5AA70-5814-666F-D5A4-F65E25E8B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139AE97-A95B-4F7F-E7BD-DBBF7F87B9EC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EE482961-80F1-998F-31F0-E42FCCEA4BC9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7670C901-40DF-CEA6-31C0-68854CF325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847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88C95AB-DF07-31B3-0AD2-ECAC9A168445}"/>
              </a:ext>
            </a:extLst>
          </p:cNvPr>
          <p:cNvSpPr txBox="1"/>
          <p:nvPr/>
        </p:nvSpPr>
        <p:spPr>
          <a:xfrm>
            <a:off x="10077847" y="77235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9D15681E-E501-424F-4D6F-739D34208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449" y="99345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E835B20-F0A0-F652-3844-14C378A0D081}"/>
              </a:ext>
            </a:extLst>
          </p:cNvPr>
          <p:cNvSpPr txBox="1"/>
          <p:nvPr/>
        </p:nvSpPr>
        <p:spPr>
          <a:xfrm>
            <a:off x="8892639" y="6049472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Commercialized Solution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2DE572EB-4D06-2AF2-BD4C-3D1854EDE638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761832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8A184-7349-4A81-B940-61FDAED8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4A37-F2AF-AF5B-A08B-54875470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4 – S3 - Interview &amp; Quote Intelligence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37667F5-1B3B-294A-D5E7-DE0C79C42DEB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Quotes from drivers and team principals are manually captured via phone recordings.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transcription causes delays, errors, and inconsistent quality in press releases.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Lack of structured repository limits reuse of impactful quotes or interview gems.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an Interview &amp; Quote Intelligence Engine that streamlines how interviews are captured, processed, and reused: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Mobile-enabled AI recorder app that transcribes in real-time using speech-to-text.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Auto-identifies speaker, emotion/tone, and sentiment.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Tags key quotes to themes (e.g., race results, technical feedback, sponsor mentions).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Stores curated quotes in a searchable library for faster press release creation.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Transcription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Supports multilingual auto-transcription and speaker detection.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Smart Quote Tagger: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Classifies quotes by relevance, sentiment, and media suitability.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Quote Library: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Searchable database with filters for reuse across races or sponsors.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298D57-D6C7-382D-E03C-CB2DA5EBCB0A}"/>
              </a:ext>
            </a:extLst>
          </p:cNvPr>
          <p:cNvSpPr/>
          <p:nvPr/>
        </p:nvSpPr>
        <p:spPr>
          <a:xfrm>
            <a:off x="364482" y="3890853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9D8E3C-5FCB-3E31-54B6-CDD0D2065250}"/>
              </a:ext>
            </a:extLst>
          </p:cNvPr>
          <p:cNvSpPr/>
          <p:nvPr/>
        </p:nvSpPr>
        <p:spPr>
          <a:xfrm>
            <a:off x="4310098" y="3890853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CBE035-91D5-2317-B6C1-6C46CCF56E9F}"/>
              </a:ext>
            </a:extLst>
          </p:cNvPr>
          <p:cNvSpPr txBox="1"/>
          <p:nvPr/>
        </p:nvSpPr>
        <p:spPr>
          <a:xfrm>
            <a:off x="364482" y="4174030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quote transcription turnaround time by 80–90%.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quality and consistency of published content.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intelligent reuse of high-impact soundbites and interview moments.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B9B24F-0196-7BC0-D412-A5540D47677E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Speeds up press release generation.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dependency on manual note-taking during race weekends.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storytelling by connecting past and present race narratives.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3643F1-2221-D295-EF4B-838B177C82AD}"/>
              </a:ext>
            </a:extLst>
          </p:cNvPr>
          <p:cNvGrpSpPr/>
          <p:nvPr/>
        </p:nvGrpSpPr>
        <p:grpSpPr>
          <a:xfrm>
            <a:off x="7983113" y="391205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E7460B6-DBA1-4A0D-EE32-772935086181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A01009A-7744-1994-255E-805BBA6AB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F8FEF3-D74E-C1C9-0EC7-22CA97B743A6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F592630-6E3B-1B93-ED43-D3AF9471D1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BB1A99-09AF-0D08-9C36-53C657B2F19A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A947A66-DF7F-586E-CDC9-8F03EA1A47D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324123F-C96B-50FD-2288-1FDA92484379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5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0FAA5C-A4A4-890F-8514-85F283A41412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it-IT" sz="1200">
                    <a:solidFill>
                      <a:srgbClr val="000000"/>
                    </a:solidFill>
                    <a:latin typeface="Calibri" panose="020F0502020204030204"/>
                  </a:rPr>
                  <a:t>2 FTE (AI/NLP Developer, Ux Designer)</a:t>
                </a:r>
                <a:endParaRPr lang="en-GB" sz="120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69A24403-D848-D8E9-CA26-B87A2A40B6DC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4BC94F-25FF-43DB-924C-AC07EE83A975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6FC88F3-9196-78BC-3595-401CD868ECDC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CBF5BD2D-00EC-E9D0-7D7C-1198EAB5D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1498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8115C47-507F-FC34-CC20-463249DC78FA}"/>
              </a:ext>
            </a:extLst>
          </p:cNvPr>
          <p:cNvSpPr txBox="1"/>
          <p:nvPr/>
        </p:nvSpPr>
        <p:spPr>
          <a:xfrm>
            <a:off x="8892639" y="510744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feed into a Content Auto-Composer system that drafts press releases or race recaps using curated quotes and highlights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24DC8383-B994-030F-5CFE-65571B761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5930296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B4885E01-25EB-F94A-47BE-F64A738E4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8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D3BE388-4ECD-4677-66BB-757F98CDA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0AA22A20-0FC1-8FD4-EC29-A782591F5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4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11D88123-BF61-E903-17DE-D3C055E10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39037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815C171-2052-B233-347A-F2A872E88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390145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2C4A0A0-32F0-AD5A-6ECB-F86486824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792BDA6-A981-49A7-A396-BC00DDB094DF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537763E9-5C4E-3E52-E9B9-B9439D301F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373DF10-7664-74A1-FF84-88A8BEE6779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EC84BF7A-F89D-DF66-2460-1EA6B69C41ED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A35E54-92BF-1BA1-18A2-001D5DA5255D}"/>
              </a:ext>
            </a:extLst>
          </p:cNvPr>
          <p:cNvSpPr txBox="1"/>
          <p:nvPr/>
        </p:nvSpPr>
        <p:spPr>
          <a:xfrm>
            <a:off x="8904831" y="6012896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Commercialised Solution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1432F2BA-BADD-C699-3583-E5F3E186B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3068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8C3FD64-1D8B-BB5C-7780-E9FD757758B4}"/>
              </a:ext>
            </a:extLst>
          </p:cNvPr>
          <p:cNvSpPr txBox="1"/>
          <p:nvPr/>
        </p:nvSpPr>
        <p:spPr>
          <a:xfrm>
            <a:off x="10205069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3" name="Picture 22" descr="Lightning bolt - Free technology icons">
            <a:extLst>
              <a:ext uri="{FF2B5EF4-FFF2-40B4-BE49-F238E27FC236}">
                <a16:creationId xmlns:a16="http://schemas.microsoft.com/office/drawing/2014/main" id="{FED65D83-0D55-D6FD-B0F6-E0FA2F4BB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069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4AB55585-48BD-54D1-7834-4F49E7A14112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753446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B7401-65E5-1F16-F4F5-097309C66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EA81-2ECD-634D-D822-3EE4D09F9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4 – S4 - PR Commentary &amp; Race Event Monitoring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FD01A24-C1D9-29E2-1B22-B9A45510AF8F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Manual tracking of race broadcasts, driver radio, social reactions, and race events is time-consuming and inconsistent.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Over-reliance on 1–2 PR staff leads to high risk of missed insights during live race coverage.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real-time dashboard exists to consolidate fan sentiment, commentary tone, or social media reactions.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building a PR Commentary &amp; Race Event Monitoring Engine that unifies and automates real-time event intelligence: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Aggregates inputs from race commentary feeds, FIA updates, driver radios, and social channels (via APIs).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Applies GenAI-based sentiment analysis, tone detection, and topic clustering to flag high-impact media moments.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Delivers a single live dashboard to assist PR staff during races with real-time alerts and curated insights.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Data Aggregation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APIs to pull race data, radio streams, commentary logs, and social reactions (e.g., Twitter, Reddit, FIA).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GenAI Analysis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NLP-based sentiment detection, tone shifts, and keyword extraction.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 Dashboard: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web dashboard with filters by driver, event, source, and tone.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2566BB-6430-42A6-0BFC-B48C55DB471B}"/>
              </a:ext>
            </a:extLst>
          </p:cNvPr>
          <p:cNvSpPr/>
          <p:nvPr/>
        </p:nvSpPr>
        <p:spPr>
          <a:xfrm>
            <a:off x="364482" y="3890853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3A26FA-8184-53E6-4A30-1F10D0DAF2A5}"/>
              </a:ext>
            </a:extLst>
          </p:cNvPr>
          <p:cNvSpPr/>
          <p:nvPr/>
        </p:nvSpPr>
        <p:spPr>
          <a:xfrm>
            <a:off x="4310098" y="3890853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6DFA7E-8942-2519-38DE-D42CFDE4861B}"/>
              </a:ext>
            </a:extLst>
          </p:cNvPr>
          <p:cNvSpPr txBox="1"/>
          <p:nvPr/>
        </p:nvSpPr>
        <p:spPr>
          <a:xfrm>
            <a:off x="364482" y="4174030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Minimizes dependency on individual PR staff to manually track multiple feeds.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capture of high-impact quotes, reactions, and moments during races.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slippage and improves accuracy of race-day reporting.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F3CDF-7EE6-99ED-EF97-78CF73113F71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real-time storytelling and quote capture.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Aligns PR outputs with live audience sentiment and trending moments.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Strengthens brand presence through agile, insight-led content.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BD7559D-AF6B-7239-1C82-E34A946CD997}"/>
              </a:ext>
            </a:extLst>
          </p:cNvPr>
          <p:cNvGrpSpPr/>
          <p:nvPr/>
        </p:nvGrpSpPr>
        <p:grpSpPr>
          <a:xfrm>
            <a:off x="7983113" y="391205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B7EBE13-1920-AA95-D5F2-26CAA92DA0DB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9A3D4C4-CC33-0325-3319-A1C337B6A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EDA678D-0AF6-58D3-9317-AE916C70FB6C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B3E7E6B-863F-FF70-CC63-DC94B59840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5062A1-D205-AC3C-A9E8-14CFC34D86F5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DB28E41-0468-BF63-5336-35CAE50765CD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C3F593-22A3-2F67-7F76-BD898EA5EC95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6 – 8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554A3DF-4EBE-C7E6-C271-C5D8C6F66CB3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it-IT" sz="1200">
                    <a:solidFill>
                      <a:srgbClr val="000000"/>
                    </a:solidFill>
                    <a:latin typeface="Calibri" panose="020F0502020204030204"/>
                  </a:rPr>
                  <a:t>3 FTE (Data Integrator, GenAI Engineer, Frontend Developer)</a:t>
                </a:r>
                <a:endParaRPr lang="en-GB" sz="120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95A38F8-5E7E-3106-90F3-51207538C4E6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9269E0F-1FDF-390A-27B8-2B4FE239B4A6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40E5D9-44A4-4F66-F218-E3541511D441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ED68F56C-7EF5-292B-6D63-A3F7D8417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1498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DDAC901-482A-465D-0DED-2B1A29813443}"/>
              </a:ext>
            </a:extLst>
          </p:cNvPr>
          <p:cNvSpPr txBox="1"/>
          <p:nvPr/>
        </p:nvSpPr>
        <p:spPr>
          <a:xfrm>
            <a:off x="8892639" y="5107445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integrate with Sprinklr or other publishing platforms for real-time content push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B32FCD52-34EC-3222-77B2-A1629B9FD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5930296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080AA6AD-6F78-B568-2934-645B8A7BCF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8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536924DB-A29F-1FA6-039C-3FF94ACCE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FAB626B6-AC66-A6A1-8754-163CADF39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4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10191E1B-55C3-18F9-B48E-218F50E10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39037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0F6F44AF-E0AC-DCBE-3366-264579D23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390145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8EB87E2A-16BD-00D9-C838-AA8620F55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9A90127-6BA2-ACBB-FE95-D79E088513CD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CEFFFCDA-75C0-E091-76E6-8DBEBA4D6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4E4CA32-E1E6-0DA3-E74B-E656817EE0A8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315D876-39EC-EFE3-3C1B-52CCA93A3FEE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2B953C-3F81-133E-2194-CF5CE3ED7CD3}"/>
              </a:ext>
            </a:extLst>
          </p:cNvPr>
          <p:cNvSpPr txBox="1"/>
          <p:nvPr/>
        </p:nvSpPr>
        <p:spPr>
          <a:xfrm>
            <a:off x="8892639" y="6049472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Commercialised Solution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217EBB95-8077-E033-A8CD-E9279C064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837" y="128352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1065E8C-50A1-8C21-1481-798C12BF5489}"/>
              </a:ext>
            </a:extLst>
          </p:cNvPr>
          <p:cNvSpPr txBox="1"/>
          <p:nvPr/>
        </p:nvSpPr>
        <p:spPr>
          <a:xfrm>
            <a:off x="10024838" y="130242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C918E448-74E7-00CC-13CB-12D8964AD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3440" y="152352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9A9105C2-3EDA-C68F-9F0A-174B5E3C60C8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0944965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9A3E2-3790-46FC-0AD5-DFF0CEAFA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9056B-DA23-A700-21AB-628099B43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4 – S5 - Content Reuse &amp; Distribution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90C9B0B-2297-DE97-031E-449357A6FCF8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752505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Press releases, quotes, interviews, and media assets are manually stored and reused, often spread across folders and formats.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err="1">
                          <a:latin typeface="+mj-lt"/>
                          <a:ea typeface="Lato regular"/>
                          <a:cs typeface="Calibri"/>
                        </a:rPr>
                        <a:t>RockHill</a:t>
                      </a: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, the current tool, has limited flexibility and search capability.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Teams often recreate content that already exists due to lack of tagging, archiving, and discoverability.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Content Reuse &amp; Distribution Console, a searchable, tag-based asset library with automated publishing workflows: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Stores past press releases, race quotes, visual assets, and interview clips in a structured repository.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Allows advanced search and filtering by driver, race, sentiment, theme, or sponsor relevance.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Integrates an approval and scheduling workflow for outbound distribution to media channels, replacing </a:t>
                      </a:r>
                      <a:r>
                        <a:rPr lang="en-GB" sz="1200" b="0" kern="1200" err="1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RockHill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Enables content snippets to be pulled directly into press templates or partner reports.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Tag-Based Archive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Metadata-enabled storage of content by speaker, topic, tone, and media type.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Smart Search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Filters and autocomplete to quickly locate and reuse quotes or visuals.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Distribution Workflow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Approvals, partner lists, and export templates for consistent, fast outbound sharing.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4C1A1CF-DF0F-99A2-1A64-DABCAE7D3B89}"/>
              </a:ext>
            </a:extLst>
          </p:cNvPr>
          <p:cNvSpPr/>
          <p:nvPr/>
        </p:nvSpPr>
        <p:spPr>
          <a:xfrm>
            <a:off x="364482" y="3890853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D47987-BC9D-9EA8-349A-B9CC0055147E}"/>
              </a:ext>
            </a:extLst>
          </p:cNvPr>
          <p:cNvSpPr/>
          <p:nvPr/>
        </p:nvSpPr>
        <p:spPr>
          <a:xfrm>
            <a:off x="4310098" y="3890853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347202-0D8B-9F4B-0CC6-0B7851F165AD}"/>
              </a:ext>
            </a:extLst>
          </p:cNvPr>
          <p:cNvSpPr txBox="1"/>
          <p:nvPr/>
        </p:nvSpPr>
        <p:spPr>
          <a:xfrm>
            <a:off x="364482" y="4174030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Drastically reduces content duplication and rework.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continuity of voice across events and seasons.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Increases PR efficiency and brand storytelling speed.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724435-72E0-673F-A63D-4BF3F847F1DF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Faster, smarter press release composition.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over-reliance on memory and folder diving.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consistent content re-use across teams and campaigns.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723412-6B59-D55D-8791-2038F854FAAA}"/>
              </a:ext>
            </a:extLst>
          </p:cNvPr>
          <p:cNvGrpSpPr/>
          <p:nvPr/>
        </p:nvGrpSpPr>
        <p:grpSpPr>
          <a:xfrm>
            <a:off x="7983113" y="3912052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2376BE-9F21-6DC9-DD5E-EF2F14069BDB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0CAE6D0-E7DB-6921-EB68-5BF463090D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FBE05AC-601F-1F7C-3107-4C3DBF0937EF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56CC2F9-B63E-C1FF-CFF3-E5AD88B4D2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9A8967-365E-A613-C654-55BE4EA0568F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3585556-36B1-0A72-31F8-AA52D4752A98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870E2BE-E5AD-9377-C2AC-86C5805D14F9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9AAAEE3-EBED-DCCA-141F-83BEF6A18B9F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it-IT" sz="1200">
                    <a:solidFill>
                      <a:srgbClr val="000000"/>
                    </a:solidFill>
                    <a:latin typeface="Calibri" panose="020F0502020204030204"/>
                  </a:rPr>
                  <a:t>2 FTE (SharePoint Developer, Content Analyst)</a:t>
                </a:r>
                <a:endParaRPr lang="en-GB" sz="120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C424AA54-007F-C3D3-8214-CB1459295D89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EEAB526-9BAC-C99B-6D59-2D3BA00053B4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109142B-6E36-E823-0A40-4F301F7B6650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688DECE7-8185-8C25-2E0C-80E318DEF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1498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733B6A6-E61A-1E23-7CBA-32DE4340CB81}"/>
              </a:ext>
            </a:extLst>
          </p:cNvPr>
          <p:cNvSpPr txBox="1"/>
          <p:nvPr/>
        </p:nvSpPr>
        <p:spPr>
          <a:xfrm>
            <a:off x="8892639" y="5107446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plug into JLR-wide content distribution or integrated with marketing DAMs for global reuse.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58034857-FB04-31FA-9A37-1090534B4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5930296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1827D735-5CE8-9250-827F-E4FE072E8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79058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5076B5B2-AB1A-D206-0BE2-43C2B77C8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76873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89EC95B5-242F-3A96-8AFA-A1EB810EC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76994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107EC054-20B7-B256-A179-25D2672AF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390374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FA4A242-2579-0D54-4E59-9BA2EF9BC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3901455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CE58DFF-F0FA-F2D2-8B5C-59480BCE8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F72B3BC-118D-E263-A08B-2101EF6426F4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55629BBA-50AB-2DA1-A6C4-605416CFA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DFFAEB3-C6EE-95EE-5568-F51F13CEA35C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54E24262-FB8F-1DA4-186A-87804DA4BAE0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7A58B-E5DB-D0BD-BF32-24B36C9E163B}"/>
              </a:ext>
            </a:extLst>
          </p:cNvPr>
          <p:cNvSpPr txBox="1"/>
          <p:nvPr/>
        </p:nvSpPr>
        <p:spPr>
          <a:xfrm>
            <a:off x="8903240" y="5950885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22" name="Picture 20" descr="Flag - Free flags icons">
            <a:extLst>
              <a:ext uri="{FF2B5EF4-FFF2-40B4-BE49-F238E27FC236}">
                <a16:creationId xmlns:a16="http://schemas.microsoft.com/office/drawing/2014/main" id="{2B69B64F-9234-709E-EAAF-5B1A6EDE6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3900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AD2626E-4743-ADA9-6284-FFD6C15D862D}"/>
              </a:ext>
            </a:extLst>
          </p:cNvPr>
          <p:cNvSpPr txBox="1"/>
          <p:nvPr/>
        </p:nvSpPr>
        <p:spPr>
          <a:xfrm>
            <a:off x="1039590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31" name="Picture 30" descr="Lightning bolt - Free technology icons">
            <a:extLst>
              <a:ext uri="{FF2B5EF4-FFF2-40B4-BE49-F238E27FC236}">
                <a16:creationId xmlns:a16="http://schemas.microsoft.com/office/drawing/2014/main" id="{315C35D8-CD35-8D4F-F1BC-71DE0ACE1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5901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0EEAF559-5B38-4052-9363-143B9F429708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153191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2EDDB-31DA-6E8B-1EA8-9F3A853B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06F9A-7732-0986-68A9-6E3F9BB1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5 – S1 - Contract Lifecycle &amp; Obligation Tracker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685B89-0417-ADC6-7C00-AC45D0332CB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Contracts are stored in SharePoint without lifecycle oversight, version control, or centralized visibility across legal, commercial, and delivery teams.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system to track sponsor obligations (e.g., number of appearances, branding placements) or validate if they were fulfilled.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Legal teams have limited data to proactively manage expiries, renewals, or renegotiations.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effort in searching and reviewing contract clauses creates bottlenecks during activations or disputes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central repository and management hub for all sponsorship contracts, featuring: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>
                          <a:latin typeface="+mj-lt"/>
                        </a:rPr>
                        <a:t>Lifecycle Tracker: </a:t>
                      </a:r>
                      <a:r>
                        <a:rPr lang="en-GB" sz="1200" b="0">
                          <a:latin typeface="+mj-lt"/>
                        </a:rPr>
                        <a:t>Structured metadata view for contract start/end dates, renewal windows, and approval checkpoints.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Obligation Mapping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: Clause-level tagging of sponsor deliverables (e.g., branding, appearances), integrated with activation reporting.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Smart Alerts: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Auto-reminders for renewals, expirations, and pending obligations.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Audit Trail: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Integrated history of changes and legal comments to track iterations across stakeholders.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Clause Search &amp; Tagging: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Semantic tagging of standard and custom clauses for future reuse and faster drafting.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Contract Parser: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OCR/NLP-enabled ingestion of Word/PDF contracts to extract metadata and obligations.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Contract Library UI: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SharePoint-integrated interface with filters, tagging, and search for legal users.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Reminder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Calendar sync and email alert triggers based on expiry/renewal dates or milestone clauses.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Optional 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Link with sponsor activation reporting to auto-validate fulfilled obligations.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B73B685-C6FB-11E8-E4E2-F4A8080362A3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A1C8C1-F88A-C94B-BECC-C302435B54BB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9BDC07-45D3-A639-CE02-9F95C7462730}"/>
              </a:ext>
            </a:extLst>
          </p:cNvPr>
          <p:cNvSpPr txBox="1"/>
          <p:nvPr/>
        </p:nvSpPr>
        <p:spPr>
          <a:xfrm>
            <a:off x="364482" y="425884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Empowers legal teams to manage contracts more proactively and reduce dependency on individuals for clause memory.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Prevents renewal delays and missed obligation fulfilments through structured visibility.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legal and commercial teams to collaborate with one version of truth.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57E9E7-64F0-CD24-1067-52414A786BE1}"/>
              </a:ext>
            </a:extLst>
          </p:cNvPr>
          <p:cNvSpPr txBox="1"/>
          <p:nvPr/>
        </p:nvSpPr>
        <p:spPr>
          <a:xfrm>
            <a:off x="4310098" y="43086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Faster access to relevant contract terms and history.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Reduction in manual errors or escalations during activations or renewals.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Standardized clause tracking enables long-term contract intelligence and reuse.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DBF3E2E-96A1-540C-7B49-02076FB5B807}"/>
              </a:ext>
            </a:extLst>
          </p:cNvPr>
          <p:cNvGrpSpPr/>
          <p:nvPr/>
        </p:nvGrpSpPr>
        <p:grpSpPr>
          <a:xfrm>
            <a:off x="7983113" y="4251305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E01D8FD-46F8-B5CF-885A-9AD50FAF85F7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B2B1D42-A726-2B1A-3185-B4112DE0D5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C16756-0CBA-8011-EC89-1855A7C405D5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7799511-1A9A-BD46-DA0A-4A44054514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B671AA-970D-E02C-D8AE-579BE4955EB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6C0705E-C82F-DD1E-8FAA-9BBDFF3E85A7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F187167-C78C-BFC9-6BB0-90DEE633082C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0993AE-0676-6B38-450F-4FC691D0B3F3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it-IT" sz="1200">
                    <a:solidFill>
                      <a:srgbClr val="000000"/>
                    </a:solidFill>
                    <a:latin typeface="Calibri" panose="020F0502020204030204"/>
                  </a:rPr>
                  <a:t>2 FTE (</a:t>
                </a:r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Legal Workflow Analyst, SharePoint/Metadata Developer</a:t>
                </a:r>
                <a:r>
                  <a:rPr lang="it-IT" sz="1200">
                    <a:solidFill>
                      <a:srgbClr val="000000"/>
                    </a:solidFill>
                    <a:latin typeface="Calibri" panose="020F0502020204030204"/>
                  </a:rPr>
                  <a:t>)</a:t>
                </a:r>
                <a:endParaRPr lang="en-GB" sz="1200">
                  <a:solidFill>
                    <a:srgbClr val="000000"/>
                  </a:solidFill>
                  <a:latin typeface="Calibri" panose="020F0502020204030204"/>
                </a:endParaRP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2A538D1-8F58-0E4A-1D3A-37CCA1473377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AB91740-F4F6-1D8A-F4A7-9D3A397AA2B1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7F69D4A-1877-B776-9058-7E8BFD2721F0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7CE87A56-6C6A-83DD-9D47-B938096BA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510311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812BFD3-132B-827B-16DC-087D5BB22759}"/>
              </a:ext>
            </a:extLst>
          </p:cNvPr>
          <p:cNvSpPr txBox="1"/>
          <p:nvPr/>
        </p:nvSpPr>
        <p:spPr>
          <a:xfrm>
            <a:off x="8892639" y="5467903"/>
            <a:ext cx="3143416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Scalable into a full contract intelligence system with integration to rights, invoicing, and risk workflows.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27899497-2ACD-A4DC-8EE8-BF2DF5DD0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290753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8BBFD91-3712-DDF2-7301-C2A1D3B95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4DD5ED6-BFA7-6D45-4DA6-183A98C3C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83813D0F-B5BC-8F67-C4B7-9194D0E1A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15A489A-2896-EB58-C442-49C85F9D2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7D4F5B96-B5E5-EBB2-DD04-760285D24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4C71553-48CA-571C-6BAB-3E6EF86AD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268E149-0409-0AA8-8E88-2F3583EBEACD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9759B11E-9E73-95F5-1416-0971AA353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62AC410D-5D91-4F22-D9D4-E426BAB7541B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508B8EFB-057D-26B3-E695-C40B9E28792C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DB8E6B-7A8C-A790-3E79-5E8A8B74A20F}"/>
              </a:ext>
            </a:extLst>
          </p:cNvPr>
          <p:cNvSpPr txBox="1"/>
          <p:nvPr/>
        </p:nvSpPr>
        <p:spPr>
          <a:xfrm>
            <a:off x="8903240" y="6300209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DBC91B69-6587-4846-B8AB-35C372211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8625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3114CF2-BC99-7401-0EFC-E1D91F3F3FDE}"/>
              </a:ext>
            </a:extLst>
          </p:cNvPr>
          <p:cNvSpPr txBox="1"/>
          <p:nvPr/>
        </p:nvSpPr>
        <p:spPr>
          <a:xfrm>
            <a:off x="9950626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EFAEB183-7165-F9F4-9F0B-314B947F3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9228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Arrow: Left 21">
            <a:hlinkClick r:id="rId16" action="ppaction://hlinksldjump"/>
            <a:extLst>
              <a:ext uri="{FF2B5EF4-FFF2-40B4-BE49-F238E27FC236}">
                <a16:creationId xmlns:a16="http://schemas.microsoft.com/office/drawing/2014/main" id="{D7890AFD-709B-996F-34ED-1941C7D3B9DE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22689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F9EBB-A48A-7EC8-AC6E-BFE9796A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E5AC6-CC29-CB10-425B-102EFE2AD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5 – S2 - Regulatory Intelligence &amp; Appeal Assistant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08E0B59-A461-D6FB-816B-BB24B825CEA5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FIA guidelines are often published in French and are time-sensitive, especially during red flags, penalties, or technical infractions.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review and translation create bottlenecks and potential misinterpretations.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JLR teams have only 30 minutes to appeal — currently handled under pressure with no structured reference to past rulings or clause mapping.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There is no centralized tool to track historical precedents, appeal outcomes, or categorize regulatory clauses.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An AI-enabled tool that streamlines regulation monitoring and supports timely appeal decisions: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>
                          <a:latin typeface="+mj-lt"/>
                        </a:rPr>
                        <a:t>Real-Time Regulation </a:t>
                      </a:r>
                      <a:r>
                        <a:rPr lang="en-GB" sz="1200" b="1" err="1">
                          <a:latin typeface="+mj-lt"/>
                        </a:rPr>
                        <a:t>Ingestor</a:t>
                      </a:r>
                      <a:r>
                        <a:rPr lang="en-GB" sz="1200" b="1">
                          <a:latin typeface="+mj-lt"/>
                        </a:rPr>
                        <a:t>: </a:t>
                      </a:r>
                      <a:r>
                        <a:rPr lang="en-GB" sz="1200" b="0">
                          <a:latin typeface="+mj-lt"/>
                        </a:rPr>
                        <a:t>Continuously scans FIA updates, bulletins, and steward reports - translates and categorizes key rulings.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Clause Tagger &amp; Tracker: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Extracts relevant articles/clauses and maps them to contract impact or sponsor rights.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Appeal Assistant: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Surfaces similar past incidents, decisions, and contextual commentary within seconds.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1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Trigger Alerts: </a:t>
                      </a: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Notifies relevant teams instantly when a ruling affects sponsor exposure, technical regulations, or brand reputation. 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Language Translation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Converts French FIA documents into structured, contextual English.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Clause Extraction Model: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Uses NLP to map rules to specific event contexts (e.g., driver infractions, safety car, advertising violations).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Appeal Reference Library: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Stores historical race decisions and outcomes, tagged for fast retrieval.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Live Notification System: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Push alerts to legal/commercial teams when urgent reviews or responses are required.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4A9EB3-D44A-78CC-D91D-553206D88F98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A00BD0-8F6D-D5FF-B357-913DC023A5C1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F2CC46-AAF3-1AD9-F5C9-1504DB5ED72D}"/>
              </a:ext>
            </a:extLst>
          </p:cNvPr>
          <p:cNvSpPr txBox="1"/>
          <p:nvPr/>
        </p:nvSpPr>
        <p:spPr>
          <a:xfrm>
            <a:off x="364482" y="425884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human delay in understanding critical rulings during races.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Supports better-informed appeal decisions within tight timeframes.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audit trail and documentation of race-related legal escalations.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54D3A5-4C17-61A5-A767-C4C3EECD1607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Lowers risk of missed appeal opportunities or response delays.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Empowers teams with real-time decision support during regulatory events.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Builds legal intelligence to strengthen future contracts and compliance planning.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F2D3395-2F4F-88EF-E0E4-C59BBCC55BAA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6F5049-4297-3B96-7338-ECB22093D1A7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EA63CB9-6B67-A197-4390-F127A1AECA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36310C-1B67-2728-A189-7DACC68CC851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2B7B987-B626-A2F1-3125-7ACBB04A46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EAA44D-8727-C9DD-B6F6-876AEC2F79B7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4C7F166-B1A7-A376-D486-2BEC4AC078A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C4FA6C3-726F-0919-E7CF-404DDC3E82FF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5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8D8B40B-ED1D-4E66-9246-EDBCA5602968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FTEs (GenAI Engineer, Legal/NLP Analyst, Workflow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AD79321-B9DC-B1CA-CE24-CB6057B23829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585385-873F-ADA2-19F1-C7F7DF66BFD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F327A17-C35C-A45C-B3C8-17906885B43F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070000DF-4097-C69B-FA48-6D23D7772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6C18F16-4013-4675-B2EA-F4C17D447C52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global motorsport regulation tracker with learning-based appeal intelligence.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6B7B00CF-88B0-F88B-F0D1-9E6D51611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09EB72C4-D834-1B12-8C87-33D6087A3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CFEA71B2-22D0-4449-2E27-A8491E8A8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292AE7E7-D7DA-53AA-B345-445E622C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069D14C1-8A4B-4EBA-3D10-83E55615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EA87B2E3-4480-9E29-9167-1E708180B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083573AE-7505-DA22-1018-29ED0D8F2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307EBCF-45CF-6053-13C4-170F8030E939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DA9A17BE-9C56-0C45-3C95-3CE1779FE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2C071EA-5E5F-7840-7C1E-27429CF54139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8070F914-EFF9-11EF-967C-67F828EA4B62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E00BE657-5849-7531-BC3D-85C03F8DB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439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2DDCC2D-40CA-549E-482D-8B6E3F82DAC2}"/>
              </a:ext>
            </a:extLst>
          </p:cNvPr>
          <p:cNvSpPr txBox="1"/>
          <p:nvPr/>
        </p:nvSpPr>
        <p:spPr>
          <a:xfrm>
            <a:off x="10035439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76710C47-E4DD-9DE0-F787-5CAD40446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041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C34A85C-7102-833A-3785-445D71E53F8C}"/>
              </a:ext>
            </a:extLst>
          </p:cNvPr>
          <p:cNvSpPr txBox="1"/>
          <p:nvPr/>
        </p:nvSpPr>
        <p:spPr>
          <a:xfrm>
            <a:off x="8896013" y="6119866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61B52E0B-C081-532F-13EE-311A39EADBB2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250693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8CEBC-CF5C-FCAC-1360-B8685CB83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C0C6A-D20B-5F05-EE72-4594467B2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5 – S3 - Partner Conduct Logging &amp; Compliance Dashboard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4DCAB5E-4324-5CC2-F93B-959B10E67F7A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Partner behaviour issues during races (e.g., branding misuse, access breaches) are recorded informally or missed entirely.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digital system exists to log, validate, or escalate incidents in real time.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Teams lack structured visibility into repeat violations or conduct trends that can inform future negotiations or compliance reviews.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Escalations are handled via emails or messages, creating a fragmented record trail.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 A lightweight digital tool to: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Record and track race-day partner conduct issues (e.g., access zone breaches, branding violations, sponsor missteps).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Allow stewards or PR/legal teams to log incidents via mobile or web interface, tagging location, race, severity, and resolution status.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Generate instant summaries for Legal to act within compliance windows (e.g., 30-minute appeal deadline).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Build long-term conduct history for each sponsor – enabling data-driven contract revisions, risk flagging, and compliance scoring.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Align with broader contract lifecycle and rights tracking tools for integrated governance. 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&amp; Web Input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Lightweight incident form with photo capture and pre-tagging options.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Conduct Scoring Logic: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Rule-based flags to classify high-risk repeat patterns.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Feed into contract tracker, partner dashboard, and appeal support tools.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86D20D-EED3-03E4-FE0A-C207AD8FA9EC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A89BDA-0051-C2D9-728B-4EC4071A82C0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191ACC-117F-103E-3358-2190C4AFD814}"/>
              </a:ext>
            </a:extLst>
          </p:cNvPr>
          <p:cNvSpPr txBox="1"/>
          <p:nvPr/>
        </p:nvSpPr>
        <p:spPr>
          <a:xfrm>
            <a:off x="364482" y="425884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a structured digital log of race-day violations across partners.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legal readiness for immediate appeals and risk mitigation.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trend analysis of misconduct to proactively safeguard the brand.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9B876-042A-639E-308C-AF0F055D2439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informal tracking and escalation delays.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Brings accountability and visibility to race-day partner behaviour.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Strengthens future contract leverage and renewal decision-making.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49CA60-21A3-4F60-C2E9-48B54B08C05B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59DEE0A-7E8B-167B-7F3B-352AA67EB9A2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5BB6522-2CBD-7828-AE1C-0F22729435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5E7C765-FEDB-1E11-5E77-A7B9D90B91FF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5BC7099-044B-F891-80BE-5EC3AC6003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5389D76-7BF2-5F58-560A-B4E77E62B04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5D9C3E9-F937-EEC4-EFBF-14CD1CFAA6F7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16ACB3-29FF-3BF5-6B16-DD7748B0341F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5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008974-D77A-04F5-CB50-95509993EA7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(Workflow Developer, Front-End Support)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63426A4-D463-5FEB-9B55-E2CB8DBADFED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BE59ECE-4F64-E725-3C6A-B927342F8E9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78B98EF-7795-2B13-8375-B6BBB3C0DF56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1FCC56B9-5C61-2264-61D7-5D16B730D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FA62545-6B95-7099-AE65-DDB0B90E0E51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extend into a full Partner Conduct Intelligence Engine, incorporating feedback, contract flags, and regulatory alignment across regions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E5C5E16E-660B-4B8D-0D4B-8AE120B12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A0EB5DE-1794-23B5-23B3-C5B75E20A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77595B9-E944-5FC9-83DB-B31334B65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67E8BBF-6712-F84E-3E90-3A34E4976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99E954F9-F334-E7ED-4321-3D69F9059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2820764-A717-A483-1C50-BA8589412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A98E9C6-B81B-D32C-B49F-4777FCBD1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0C0039-3957-9A98-E642-28D6990BFBD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D737810-424A-D1B3-1A3E-BC462250F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563AD39-067F-41E5-3132-1ECF6958FF03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159FEAF3-FCF6-CC3A-94AC-026F1B096C45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14690EB4-7453-9C42-8834-8B735FFBE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448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D2660C0-EA45-57ED-053E-9B848AE030B9}"/>
              </a:ext>
            </a:extLst>
          </p:cNvPr>
          <p:cNvSpPr txBox="1"/>
          <p:nvPr/>
        </p:nvSpPr>
        <p:spPr>
          <a:xfrm>
            <a:off x="10088448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F4EC6D9F-B1D6-5ADC-366A-6DCFB58013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7051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10885DF7-9BD6-B344-2618-9C9477C70714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67D96F-B1D8-4ED0-EA4E-7F18439187DA}"/>
              </a:ext>
            </a:extLst>
          </p:cNvPr>
          <p:cNvSpPr txBox="1"/>
          <p:nvPr/>
        </p:nvSpPr>
        <p:spPr>
          <a:xfrm>
            <a:off x="8903240" y="6117329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</p:spTree>
    <p:extLst>
      <p:ext uri="{BB962C8B-B14F-4D97-AF65-F5344CB8AC3E}">
        <p14:creationId xmlns:p14="http://schemas.microsoft.com/office/powerpoint/2010/main" val="41852594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95C07-89AB-CBFB-A600-61F920ACE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5C22-F7A2-D0F5-C471-E519CDA6B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5 – S4 – Legal Intelligence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F1447A-0E32-F5A5-5F86-FB7936B3F9A7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FIA regulations are issued in French; manual translation delays interpretation and introduces ambiguity.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No AI assistance exists to prepare time-sensitive appeals (30-minute window).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Legal precedents and past FIA decisions are referenced manually — no searchable system.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Lack of structured knowledge base slows decision-making during races and post-event reviews.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 An AI-supported toolkit to: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Translate FIA regulations and race-day bulletins in real time using NLP models fine-tuned for motorsport terminology.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Match current situations with past rulings using AI-based precedent suggestion.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Create structured legal reference logs across seasons, searchable by clause type, partner, and race incident.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Assist legal teams in drafting appeal content swiftly using GenAI templates and auto-filled summaries.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 Translation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translation of FIA documents with terminology calibration.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Precedent Search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AI-matched rulings from a tagged decision repository.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Appeal Draft Assistant: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GenAI-generated draft content for appeal letters, editable by legal staff.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7FBF9C2-4910-604D-EC36-F12F3400FE4F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C05BE3-EB57-5CAB-64B4-8AA53DB715B5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3F1B99-FD73-A36B-053D-028481455ACD}"/>
              </a:ext>
            </a:extLst>
          </p:cNvPr>
          <p:cNvSpPr txBox="1"/>
          <p:nvPr/>
        </p:nvSpPr>
        <p:spPr>
          <a:xfrm>
            <a:off x="364482" y="425884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faster and more confident decision-making in regulatory and appeal windows.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ambiguity during high-pressure race situations.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Preserves institutional memory of rulings and exceptions.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D6ADB8-3BDB-9B75-DEE3-D580C8C5D8BC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FIA appeal success rate through structured precedent awareness.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Frees legal teams from repetitive tasks like translation and template preparation.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regulatory preparedness with a centralized knowledge base.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B475607-70E9-244E-A016-889262580F0A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7FC8FEC-7A25-A987-118E-2AA2353CAD7A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8C62292-C596-EA80-42C3-D41528171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0CADAC-F613-1521-C947-C327842627E6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5DAD16C-B8B3-FE82-2C96-1614F09EAF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A1859A-71F5-763F-79BB-AE3E5B56F76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88F216E-29FE-813F-D521-2FB30C37B928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2A10AB0-CCA9-FF94-0BE1-982840B3BF4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5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59564A7-C0E4-07AA-D38E-195963BAE2F5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(GenAI Specialist, Data Annotator)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1895374-E025-16AC-236C-D4DCA2293FF5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23E166-1434-0CD9-CFF5-E0D0F1911DF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0D8B68F-DD83-A9F4-2EF7-8823078A6CF5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BA57C9F2-B628-91C3-F0D9-C50F9F172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A384812-26BF-BB55-C80A-E586A8257AB0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Global Motorsport Legal Copilot, integrating cross-series regulations and serving multi-team legal units.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5741CC8-738C-7FCE-3B0E-5D3C1C981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9C71D80-C218-72D9-DB28-E6DBA1372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5F07752-66B9-A786-1CCE-7FC5D1EE7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BA5591ED-C25E-2542-B7E0-20BF84E9E9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3B7662BC-76F4-A063-EAAA-899528E93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F0B2FAC2-5B05-4BC3-4F69-8B15B7779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8E611B71-E6A7-EE08-86DD-51807CD26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2116072-D336-3F21-C9E5-088E4678F086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922F112F-9343-AF7F-DE2D-290E3E9A6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A4E238C-54E0-C12B-B8E7-47144CF9FB79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F66B242-2EE6-76C1-A40E-D6C8580C3D1D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ED4B5AB6-ECEB-A83B-F8A8-810343B3A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671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AA738D0-D0E0-D962-721B-0C8E58820550}"/>
              </a:ext>
            </a:extLst>
          </p:cNvPr>
          <p:cNvSpPr txBox="1"/>
          <p:nvPr/>
        </p:nvSpPr>
        <p:spPr>
          <a:xfrm>
            <a:off x="10215671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alibri" panose="020F0502020204030204"/>
              </a:rPr>
              <a:t>Future Disruptor</a:t>
            </a:r>
            <a:endParaRPr lang="en-GB" sz="1200" b="1" i="1">
              <a:solidFill>
                <a:srgbClr val="6DB657"/>
              </a:solidFill>
              <a:latin typeface="Calibri" panose="020F050202020403020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13FB3C-6296-E94C-251A-9B7F6451B78F}"/>
              </a:ext>
            </a:extLst>
          </p:cNvPr>
          <p:cNvSpPr txBox="1"/>
          <p:nvPr/>
        </p:nvSpPr>
        <p:spPr>
          <a:xfrm>
            <a:off x="8883954" y="6188799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Commercialized Solution </a:t>
            </a:r>
          </a:p>
        </p:txBody>
      </p:sp>
      <p:pic>
        <p:nvPicPr>
          <p:cNvPr id="2052" name="Picture 4" descr="Disruption - Free technology icons">
            <a:extLst>
              <a:ext uri="{FF2B5EF4-FFF2-40B4-BE49-F238E27FC236}">
                <a16:creationId xmlns:a16="http://schemas.microsoft.com/office/drawing/2014/main" id="{55B69C2B-8198-FE0C-220A-A479C1B94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073" y="0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4CD69F54-1606-C6D9-68E8-5EF6C5FF2E8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440528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EE04C-A817-AAB7-244F-3A7C810CF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F4740F-B599-1C53-166E-E0DA10245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6 – S1 – Centralized Budget &amp; Forecast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24A4A2-4B66-67BB-BEA3-BF54D761495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Budget planning is fragmented due to misalignment between Formula E race calendar and JLR’s fiscal cycle.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Budget ownership and spend visibility vary by stream (logistics, branding, etc.), leading to inconsistent forecasting and control.</a:t>
                      </a:r>
                    </a:p>
                    <a:p>
                      <a:pPr marL="128270" lvl="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>
                          <a:latin typeface="+mj-lt"/>
                          <a:ea typeface="Lato regular"/>
                          <a:cs typeface="Calibri"/>
                        </a:rPr>
                        <a:t>Manual tracking across Excel files limits agility and coordination.</a:t>
                      </a: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 TCS proposes building a Centralized Budget &amp; Forecast Console that: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Aligns fiscal year and Formula E race calendar for joint tracking.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Structures budgets by race, vendor type, and spend category (logistics, tech, apparel, etc.)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real-time budget vs actual comparisons with forward-looking forecasts.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Connects with SAP and Tableau to automate data pulls and scenario planning inputs.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Data Connectors: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SAP (financials), Excel (manual trackers), and Tableau (dashboarding) for source integration.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Forecasting Logic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Input assumptions, planned vs committed vs flexible spend.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Approval Integration: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Tagging workflows for team-level allocation, reallocation, and justification.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Scenario Planner Plug-In: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Budget reshuffling simulations aligned to race changes or vendor shifts.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9996D95-C9DE-564C-ACA7-8AE2C824F677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55D4618-DAB3-D939-BCF8-87674EAC485C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4E559-7573-45F9-B8CE-A35D0CD119B0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Removes dependency on disjointed Excel sheets.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Establishes a single source of truth for race and stream-level budgeting.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accountability across departments managing event finances.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Builds readiness for future commercial scale and dynamic planning..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9574F-AA97-D621-9A38-ED64A704BFF4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Faster and more accurate budget planning.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Clear race-by-race financial alignment across teams.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Greater transparency in budget use and reallocation decisions.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end-season surprises and budget overruns..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FD8955F-91C0-A7C4-BF27-6C44E55D9796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7DA8A5F-4A71-B7E6-906D-685F294AA005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475907F-CFE3-315E-E68E-3A773CC527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A8123B4-D40A-D02D-FDEA-017FDC63FC05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6B68AAD-3A10-EBC5-DC52-0A58C3ECDC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DCCBCEB-A8C2-3FF7-B7A4-EFAE9C2033A8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C47C6CD-E990-CA4A-5421-80EE7E5CD88C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168D097-4770-23B8-2A67-3AA3A8A0185D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422AB54-882C-7F37-DF60-5EB93DB39DBD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(Data Engineer, Tableau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6EFE61E-9E0C-8DA1-DC04-097363652416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47336C0-922D-AD70-692D-1408C5024C98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03BE8CD-63F2-8771-F33E-D9A70C46D3F3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D41661E3-1CA7-5165-EB48-7583CECEB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C1FC9E8-E990-4FE7-20E4-6C51A360122E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full Race Financial Planning Suite with predictive </a:t>
            </a:r>
            <a:r>
              <a:rPr lang="en-GB" sz="1091" err="1">
                <a:solidFill>
                  <a:srgbClr val="000000"/>
                </a:solidFill>
                <a:latin typeface="Calibri" panose="020F0502020204030204"/>
              </a:rPr>
              <a:t>modeling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 and AI-driven budget recommendations.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124ED3C4-8912-F52A-2BEB-82AED2EEA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A551E34-B055-8DC3-6D9D-579B1B1C90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C8FF61C-5E9A-8515-195F-626125DDA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5F544DF3-2189-4E54-7B59-B68585F63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AC9884B-908C-FA83-CFFA-B26BD893F0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370224AF-C08B-7997-49DC-04B693428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67ED0ED0-8A50-6663-6028-841F0D702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C7316E3-5E12-A70C-FAAB-33997F98F19B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7149D749-58E8-3B2A-54E4-B1FC12763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2A46EFE-4256-376E-A7F1-70DA8BEBB145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DBA3E608-6532-3E9A-2C4D-A6880CA6D9AA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837DD364-14AD-8DC6-FED1-F467A183D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440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CCCF1D5-5C42-DD6D-6EF5-38904DF657F0}"/>
              </a:ext>
            </a:extLst>
          </p:cNvPr>
          <p:cNvSpPr txBox="1"/>
          <p:nvPr/>
        </p:nvSpPr>
        <p:spPr>
          <a:xfrm>
            <a:off x="10035440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31" name="Picture 2" descr="Rocket - Free transport icons">
            <a:extLst>
              <a:ext uri="{FF2B5EF4-FFF2-40B4-BE49-F238E27FC236}">
                <a16:creationId xmlns:a16="http://schemas.microsoft.com/office/drawing/2014/main" id="{3DA8AEA6-B4AA-EED7-5F9A-47DC56407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043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B852D5ED-29FB-06D3-E81D-789BFFE9FA9A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E2023-9E4A-51EB-C7AC-8DB90E3041FC}"/>
              </a:ext>
            </a:extLst>
          </p:cNvPr>
          <p:cNvSpPr txBox="1"/>
          <p:nvPr/>
        </p:nvSpPr>
        <p:spPr>
          <a:xfrm>
            <a:off x="8896013" y="6119866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</p:spTree>
    <p:extLst>
      <p:ext uri="{BB962C8B-B14F-4D97-AF65-F5344CB8AC3E}">
        <p14:creationId xmlns:p14="http://schemas.microsoft.com/office/powerpoint/2010/main" val="3164627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697AF-D769-9C24-6D1B-3F41F7ED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ABDF4-1B38-4341-2F76-B6032B433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6 – S2 – Vendor Spend Tracker &amp; Reconciliation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8DB51C8-8DB9-B36D-9E7E-868BBC849C6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Vendor expenses (logistics, F&amp;B, branding) are reconciled post-event with no real-time integration.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Manual tracking in Excel causes duplication, delayed reconciliation, and limited race-specific insights.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Spend data across SAP, SharePoint, and vendor invoices are not consistently linked or validated.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Vendor Spend Tracker &amp; Reconciliation Engine to: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Map spend activity race-wise and vendor-type-wise, tracking committed, invoiced, and paid status.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Integrate vendor POs, SAP financial data, and delivery milestones for real-time alignment.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Flag mismatches and duplicate payments across tools (Excel, SharePoint, SAP).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Provide race-level burn dashboards to monitor vendor cost overruns or underutilization in real time.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PO Sync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Connects SAP and vendor systems to retrieve PO creation, approval, and invoicing data.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Spend Validation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Auto-checks committed vs delivered vs invoiced values.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Reconciliation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Highlights anomalies or mismatches across documents and systems.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Burn Rate Dashboard: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Visual reporting layer to view vendor spend patterns by race, vendor type, or asset.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8D76E2-6208-3509-DAE9-926DC5625299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98D12E8-10C6-5C7E-26D5-5F907795B232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128C93-C899-3249-7DF3-74A446F62B40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real-time vendor spend tracking and dispute resolution.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control over high-value logistics and event vendor partnerships.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Prevents overspend or missed payments due to human error or timing gaps.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time spent on manual reconciliation post-race.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E8EB4-540D-626C-BD8F-ABF89E031ADA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Accurate cost tracking with audit-ready logs.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vendor trust and faster payment cycles.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financial leakage and operational inefficiencies.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forecasting accuracy for future event planning.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E76BF9-A38A-4FA5-DF0C-953290DD6589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08338AC-21CE-A3B1-DF51-B388F8428308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5356AD5-4961-1A37-51A4-1708102D19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AA3EB73-7636-D41A-AC77-3414D9E384FD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6FBB532F-0B16-E1A6-8D4E-C133C50E2C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D2D45E0-24BD-9725-1507-0AB79EEA1AD6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147D149-8CD9-47EA-5335-C6C376F81781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FC29B4D-0C2A-DC97-026A-DCDCF2961A17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1F047FE-F763-01C7-925D-81C70A863FB3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 (SAP Analyst, Dashboard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B8F78A57-E0F9-9A77-14A4-5BA4DC9FB481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599C4BF-22C3-6853-FBFF-5ADBF3FB7A91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51FB17C-B29C-060D-26D4-A2D27322F557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D92E8858-650A-336A-2E28-3685131DE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16851AB-5130-6C41-8AD5-B0AB31D83DCC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an Enterprise Vendor Spend Intelligence Platform with predictive alerts and auto-reconciliations.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06855911-7683-8DB5-CB87-03A0E7493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2048505E-6F8C-2EA2-D4E0-85D9FAF56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E269AAD6-F0A3-CE75-B3DB-F2578BCAE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B9AFFC53-F65D-DC24-0946-32EA9DB6B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8137011E-0A23-178C-71B7-BEB7B1C99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67EBA5C-8030-EF8A-F366-1614D5A70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01D8E73B-3CBF-5C71-5026-91013CAA3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5F1F62A-E512-E48E-DCB2-C9862A7355B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240ECFA-EF10-5A3C-4F06-E3FC95751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0876C2E-0F3D-D0DD-AB10-EC33E3958B4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27743FDB-7DD8-DE26-B194-CAF39CB750F4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255874-AF47-ED57-9D88-30BE32E7C1EC}"/>
              </a:ext>
            </a:extLst>
          </p:cNvPr>
          <p:cNvSpPr txBox="1"/>
          <p:nvPr/>
        </p:nvSpPr>
        <p:spPr>
          <a:xfrm>
            <a:off x="8903240" y="6161329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Commercialised Solution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E285A8BA-6FEB-87E5-4D75-7F4CFBE1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6217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F20E55D-4D83-38A9-053A-C8C27655ABAE}"/>
              </a:ext>
            </a:extLst>
          </p:cNvPr>
          <p:cNvSpPr txBox="1"/>
          <p:nvPr/>
        </p:nvSpPr>
        <p:spPr>
          <a:xfrm>
            <a:off x="9908218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31" name="Picture 2" descr="Rocket - Free transport icons">
            <a:extLst>
              <a:ext uri="{FF2B5EF4-FFF2-40B4-BE49-F238E27FC236}">
                <a16:creationId xmlns:a16="http://schemas.microsoft.com/office/drawing/2014/main" id="{942F51BD-7008-2F77-CF68-1DFD2D676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6820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3073942D-7B6D-5F92-C554-65257275F59F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903204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44F72-2621-E3E3-1470-86E89574C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EAE0A-FFF7-272F-DF79-4C24F8CE4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6 – S3 – Race Calendar-Aligned Spend Planner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37E12A-3B5A-CF92-BE0F-76EA1AA8A91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JLR’s financial planning calendar does not align with the Formula E race schedule, causing budgeting fragmentation.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Flexible vs committed spends are not clearly distinguished per race or quarter.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Reallocation requests and approvals are handled manually without traceability.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Race Calendar-Aligned Spend Planner that: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Overlays Formula E race calendar with JLR’s fiscal and quarterly budgeting cycles.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Tags budget items as committed, flexible, or race-contingent.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mid-season budget reallocation requests and approval workflows.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Aligns pre-race forecasted spends with actual post-race reconciliation to improve planning discipline.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Race-Fiscal Sync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Integrates race timelines with JLR financial cycles (monthly/quarterly).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Budget Tagging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Classifies spend items by commitment type, team, and race relevance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Approval Workflow: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Built-in logic for raising and tracking budget adjustments.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Audit Trail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Maintains history of budget changes, approvals, and reallocations.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EB3088-8A84-9BAC-7067-E1282C627111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BE0844-4889-9EEB-792A-517F001C993F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A5A20-BD75-450D-3AD5-531437862BF1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Brings visibility to race-linked budgeting and avoids over-allocation.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more agile financial decisions based on race calendar dynamics.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friction across finance and event delivery teams on spend re-planning.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clean linkage between pre-event planning and post-event validation.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7CF660-25C2-0AA5-FD2A-1EF241E37B28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seasonal financial alignment and agility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Prevents budget bottlenecks or overcommitments.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Strengthens collaboration across commercial, logistics, and finance teams.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Supports finance planning with race-by-race budget clarity.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976E220-ABA9-46D2-999F-52513D9E8FDE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BA1F57F-B71F-39A9-8AC1-D4E1045EC1BF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B777A4D-2284-D2A1-4977-CB328D3EFC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3B73B2-7F94-F8B1-439E-20ED6604CCFC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1267282-2014-2E6A-4F19-66DF3AC87D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A21144-3A56-044E-9761-4C40D57254AF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0FB6ACE-7361-68D6-15F0-EA646ABADA50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75E4B98-2CA4-F33E-C0BA-E5D36BD37456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3C9F1BF-390B-6191-C18A-69BA6810FE09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(Financial Workflow Analyst, Planner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23E683D-B8EE-6F19-5357-B45B13C6F79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4DC026E-DD28-7502-D8D6-6DFF3DA96FC3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E62BF09-8325-B62B-6F77-2E4F6D68889E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C0690AA6-A5B8-7C3D-F10D-1A5590977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2614F67-A51B-39D8-C9C9-DABAA00FC00B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extend into a multi-sport or global event financial alignment planner across other sponsorship programs.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A957CA50-14FC-40BB-6DEE-B1837559E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9CFA19B1-DA5F-55FE-14DD-9F28279463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0381F1D-974B-0701-2C3F-A4CB6141E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606FBF7-145F-7621-3774-07249CEC4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2E88B3E6-0FED-98A1-1033-44C44B3D5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498EF72-5221-D290-D3E8-00713EBFE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77A8DD7C-2E74-D48F-CF18-FCBE5D184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5C7C8B3-8953-F201-D9EA-8C53FD3CC973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722326E-5EB1-E2AF-884F-20F581FFA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A3BC270-C12A-BAEF-77AF-85C4BAF2B68B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EDCD41A2-F8F6-1ECC-A47C-60ECE399D181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3A4961-5421-64C8-3244-35074DAAE243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EE3A06E9-66AE-00A6-08FB-BCFF49571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3068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3E0A6F-7E5B-7EBE-288B-B5673E15A261}"/>
              </a:ext>
            </a:extLst>
          </p:cNvPr>
          <p:cNvSpPr txBox="1"/>
          <p:nvPr/>
        </p:nvSpPr>
        <p:spPr>
          <a:xfrm>
            <a:off x="10205069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2" name="Picture 21" descr="Lightning bolt - Free technology icons">
            <a:extLst>
              <a:ext uri="{FF2B5EF4-FFF2-40B4-BE49-F238E27FC236}">
                <a16:creationId xmlns:a16="http://schemas.microsoft.com/office/drawing/2014/main" id="{6DF37060-7361-7EE3-9E69-8937882D9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069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8034496D-BF6C-DBB9-B3ED-EC40C89FD72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432993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936A4-05B1-6222-A024-687FC5AF0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DA3BC-A5EB-A5BA-127C-3CA6062B0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6 – S4 – Dynamic Financial Dashboard Layer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95BC6F-224D-B81D-A71E-5B3E0072354C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04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478288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Current reporting lacks flexibility to slice spend data across races, vendors, or cost types.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Financial dashboards are not integrated across planning, vendor tracking, or fiscal alignment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Budget owners lack a unified view to act on over/under-spend patterns in real time.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Dynamic Financial Dashboard Layer that serves as the unified front-end for all finance solutions (S6.1 to S6.3). This dashboard will: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Consolidate inputs from the Budget Console, Vendor Tracker, and Race-Aligned Planner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Provide real-time slicing and filtering by race, vendor, and cost category.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 scenario simulations and budget reshuffle planning through interactive visuals.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 team-specific views for finance, partnerships, events, and leadership.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Tableau Extension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Connects to financial planning and tracking systems.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Custom Filters &amp; Drilldowns: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analysis by team, vendor, and spend category.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Scenario Simulation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Forecasting plug-in for what-if budget adjustments.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Collaborative Commenting &amp; Alerts: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Overlay for team inputs and change triggers.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61B7B7-9E2B-4CF7-CEB8-31204AB20C1F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348FECF-53BB-077A-7B04-C58A076731A1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31763-B693-DD74-256B-8B0A8C5C9DE1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Acts as the live interface for all financial insights and actions.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Streamlines visibility and responsiveness across finance stakeholders.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manual reporting and accelerates corrective budget actions.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BD3DB9-6642-7F30-FDE6-359BBA16985D}"/>
              </a:ext>
            </a:extLst>
          </p:cNvPr>
          <p:cNvSpPr txBox="1"/>
          <p:nvPr/>
        </p:nvSpPr>
        <p:spPr>
          <a:xfrm>
            <a:off x="4310098" y="4351048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single-pane financial clarity across the race calendar.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proactive, data-led decision-making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Aligns financial governance with operational execution in real time.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07218D-7F71-BBF2-25BD-296349C373FA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ADA45D7-D793-268C-02E6-603FE503D118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CB18102-883D-1BEE-11CD-12E634BFC2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5CF4C2-C2E4-0A37-E4B6-97B1BB2218E2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7958E56-D21B-0787-0BD5-40412D7DA6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1BA030-1973-EC14-1982-81036FA8347F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54920DA-0A6E-19C2-7139-C329526EC8F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D2886B-8F24-DA51-FE37-BC7A74CACC6C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D356739-3D4C-49FA-8E4B-A755B68A06F3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(Tableau Developer, Data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BC90D490-E034-7F51-7E2A-101465F672EF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44E4396-3FDB-1B82-F5AD-CF86348D1B9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FFB6DE8-45B3-9F05-6376-2E29B5C6DEAC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0B6D8FCC-379A-C7D1-0386-D3913288E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1C54BA1-48BA-9458-2111-0F016E3CF883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grow into a Race Financial Intelligence Hub integrating ROI, contract </a:t>
            </a:r>
            <a:r>
              <a:rPr lang="en-GB" sz="1091" err="1">
                <a:solidFill>
                  <a:srgbClr val="000000"/>
                </a:solidFill>
                <a:latin typeface="Calibri" panose="020F0502020204030204"/>
              </a:rPr>
              <a:t>fulfillment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, and predictive spend analytics.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BD6A430B-B3C6-4759-7795-D4458D4D04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C9A55E4A-8D28-E376-93FB-D72270A7DD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E4E53077-E595-6238-DEF0-49F8F5069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C59D765E-FFA4-017B-34F3-D7E682D1E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DB78A3E7-0135-5700-0DD8-EB64F3BB6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A314724E-40D0-9323-B133-3FD3A33D7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88EA82B3-40C6-E883-B56E-74B0EBF3F1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255D067-A0A0-23ED-11EE-EBD03D8B5C06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303A059D-AE26-33C4-E83C-CFDD3B20D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2F51495-D4DA-3546-F4F4-D9643B3D96B3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F5340A3-AADB-2324-90C4-5FDC0C313B6B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73BB9255-87A1-3F7E-38E6-3A3565939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4273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7698C4-D75D-BDA4-CE0B-22B9EC926A16}"/>
              </a:ext>
            </a:extLst>
          </p:cNvPr>
          <p:cNvSpPr txBox="1"/>
          <p:nvPr/>
        </p:nvSpPr>
        <p:spPr>
          <a:xfrm>
            <a:off x="10226274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2" name="Picture 21" descr="Lightning bolt - Free technology icons">
            <a:extLst>
              <a:ext uri="{FF2B5EF4-FFF2-40B4-BE49-F238E27FC236}">
                <a16:creationId xmlns:a16="http://schemas.microsoft.com/office/drawing/2014/main" id="{AD52498E-6737-97F7-EA0F-425FCFB01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6275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DF303226-7DA2-23B3-DABE-FB00B61520D6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5A1F241-CE29-22EB-B252-FCFC3F3BC324}"/>
              </a:ext>
            </a:extLst>
          </p:cNvPr>
          <p:cNvSpPr txBox="1"/>
          <p:nvPr/>
        </p:nvSpPr>
        <p:spPr>
          <a:xfrm>
            <a:off x="8908205" y="6119866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</p:spTree>
    <p:extLst>
      <p:ext uri="{BB962C8B-B14F-4D97-AF65-F5344CB8AC3E}">
        <p14:creationId xmlns:p14="http://schemas.microsoft.com/office/powerpoint/2010/main" val="20223881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7FCC7-95A1-A322-66CE-03BC577A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41DA-A93D-7DB2-8570-2F0AD5072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7 – S1 – Creative Asset Tracker &amp; Approval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F80EFA6-BC5D-80E0-1860-060B702EFFC5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Creative assets (e.g. branding panels, garage artwork, signage) go through multiple revisions but lack structured version control or approval tracking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Approvals are handled over email or WhatsApp, causing confusion around final versions and delayed vendor execution.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Creative files are sometimes outdated or misaligned with the final layout during setup.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Creative Asset Tracker &amp; Approval Console to digitally manage all artwork and branding assets through their lifecycle: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Centralized console to log, version, and approve creative assets across vendors and internal stakeholders.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Auto-notifies relevant teams when action (review/approval) is required.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Links each asset to the race it is planned for, with tagging by location (garage, suite, pit wall, etc.).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Vendor-facing view ensures only latest approved version is used for printing or installation..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SharePoint-based Workflow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with Power Automate for notifications.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Version Tagging Module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- tracks revision history with timestamps and approver logs.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Race-Asset Mapping View -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tags artwork against event and location for visibility.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Access Layer for Vendors -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controlled view for suppliers to access final approved files only.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616B9D-DB5C-BB90-4666-D0E34D218AC5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92AD44D-E42A-7160-0609-37D28C248BE7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F1E12A-A7BC-309C-A0FF-B6ECFC7170F2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Avoids miscommunication or use of outdated artwork.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Accelerates approval turnaround and race readiness.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Creates audit-ready log of changes and approvals for every race.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late changes that could incur rush charges or setup rework..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B3E06-3FAF-D691-5785-1EBFFAA1891F}"/>
              </a:ext>
            </a:extLst>
          </p:cNvPr>
          <p:cNvSpPr txBox="1"/>
          <p:nvPr/>
        </p:nvSpPr>
        <p:spPr>
          <a:xfrm>
            <a:off x="4310098" y="443099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Improved speed, accuracy, and traceability in creative execution.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Strengthens internal collaboration and external vendor alignment.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Less dependency on memory and manual document search.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Supports scalable asset governance for future seasons.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734BF71-A0EC-3E90-9C59-48A439D9D58A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5CEEFA-CB8F-2DF7-D73D-8DC4FB759E74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EB7763B-8C2B-31C7-1F3E-56393117E6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7F41DB4-A415-D68E-FDDA-F5DF3EBC9044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BA4A03B-4D3F-01E9-F5FB-6CE424F7CD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110256C-D7AC-149D-D194-30CAFE80255A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5957516-BABF-129A-D5A7-E2DF8E961F2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D51C03D-D28A-4C36-1999-08B4FB1ADE18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B059847-C396-13E4-A534-13F8892BC9E8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(SharePoint Developer, Workflow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D05929FA-0672-A3FA-F009-85A47FAF65B0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BB3B33-DD65-77F7-C29D-A00711F9297C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34C2DB6-F5A7-120A-3417-C2D39A7B4F51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F2D5249F-A63F-46EF-259F-0C7C6FFD2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BBA05FD-39BF-150A-13E2-B66501F861C5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expand to cover creative briefs, brand compliance checks, and contract-linked artwork validations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F7E6C771-D4F2-0D45-694A-2E39064E94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C1BECD72-E3D3-3EB9-2F8D-B36A56E47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CF22FB9A-6D55-07A0-318A-0F4A83376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878FBC75-503F-E556-3105-A2E7CD747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CDE696A4-17A3-85FC-3900-C038DC95B0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77C8F5CA-1340-3494-11E0-916727340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23E82CB5-711F-2041-D2FE-35853830B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6E84302-5DEB-C160-DF40-54B3F725C1C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F3F6A91B-1BA9-7579-535A-A54B85FCA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9A2D9B1-58EF-4056-D61A-8251D5A77244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88435CCE-7F2D-C519-59C6-43CF7D7C00A0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FBD5851-36C1-2AE0-8156-03DB301F471E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85C76485-5A23-9D8D-0968-4AE2378D2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7049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36CFCEC-7FB4-6959-78E3-4C987E630BBF}"/>
              </a:ext>
            </a:extLst>
          </p:cNvPr>
          <p:cNvSpPr txBox="1"/>
          <p:nvPr/>
        </p:nvSpPr>
        <p:spPr>
          <a:xfrm>
            <a:off x="10099050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2" name="Picture 21" descr="Lightning bolt - Free technology icons">
            <a:extLst>
              <a:ext uri="{FF2B5EF4-FFF2-40B4-BE49-F238E27FC236}">
                <a16:creationId xmlns:a16="http://schemas.microsoft.com/office/drawing/2014/main" id="{0457D074-0BD7-F7E9-1060-1118CF4F7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9051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16B4D002-1754-8FE5-DE03-B1E606868776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7902707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C811B-ACB7-6C98-9ADA-134CD1004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B8D4C-44E6-AEFD-D015-32BDD0EF5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7 – S2 – Garage Layout Validator &amp; Placement Tool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0398AF-8087-D164-F130-6BCD4F5B56C4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Garage branding layout varies by location, often requiring on-site improvisation.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standard digital tool exists to validate sponsor placement, dimension constraints, or layout accuracy before race weekend.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Manual setup and validation increase risk of incorrect placements or brand visibility conflicts.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Lack of race-to-race visual record makes it hard to assess consistency or plan better.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visual configuration and validation interface for garage setup teams.: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Uses interactive layout templates by circuit, with drag-and-drop modules for sponsor logos, screens, and assets.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teams to validate positioning against race-specific dimensions, brand hierarchy rules, and technical guidelines.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Includes a mobile validation checklist used during physical setup for alignment confirmation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Stores layout screenshots for traceability, brand reporting, and future planning.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Race-Specific Layout Templates: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Configurable CAD-style overlays for each track’s garage specs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.Drag-Drop Placement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Simple UI to test and position branding/logos pre-race.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Brand Rule Validator: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Flags violations of visibility zones, sponsor conflicts, or overlapping assets.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Validation Checklist: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Final on-site confirmation and photographic documentation.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5BFC8D-1585-974A-BF28-52EF31FD3CD9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B0D0C7-6B58-FE7E-F5CF-093895B9A092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A2EAC3-D647-B114-C790-65C6239A477F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manual rework during garage setup.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sponsor branding is placed correctly as per contract and event expectations.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setup planning and collaboration between creative and operations teams.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consistency of garage experience across global races.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46721A-9C10-02DE-4B84-571544C3A680}"/>
              </a:ext>
            </a:extLst>
          </p:cNvPr>
          <p:cNvSpPr txBox="1"/>
          <p:nvPr/>
        </p:nvSpPr>
        <p:spPr>
          <a:xfrm>
            <a:off x="4310098" y="443099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Visual clarity on layout before teams arrive on-site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Minimizes costly, last-minute corrections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traceable records for future learning and sponsor reporting.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Supports consistent global brand presentation under tight timelines.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053B5E4-32A3-425F-4D44-807F5F313980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74B65B-DFE5-C8E6-1CF5-B6559CA82525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9FAD9B4-85E0-5FED-0BC4-3FC4A1F8C2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837050D-8EEA-B982-521A-8F2D94AF9DF2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2D5D13B-C377-9583-8A00-C097684CF4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FA50661-E6C4-DCBC-146B-3349ED5ECBB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586A7C50-5930-AA35-3A05-EF02D6A0376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B98E83F-E090-55F8-C94D-73391C7C05C5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499EA4-0703-38D6-662C-5D9AEDD445B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(UI/UX Developer, Operations SME)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672B8F5-3533-9D10-7382-7609D228E150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9EB45C-85BA-9F18-F6F3-D7B415F1062C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53F38F-FA5E-8A62-218F-3977DC084D47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60A5256F-806B-F490-48E0-6557CCB3E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8BFC50D-6FD2-624E-9D90-EC8C14B5B4D3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full Race Environment Planner for all physical and digital assets across garage, pit lane, etc.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A3917A7B-56ED-EA95-B1D3-9E7B7968AD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C92014AF-7947-3C24-B26A-D993B40D71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1CEFBBDE-910E-D493-C132-9DB92163B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0D39C4F4-5A00-6D00-8421-8CBFBEBD1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E2DA1A7F-7F29-83E6-3E0B-71F7DC587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134AD4D-65BD-E25F-7C42-DD09A73F1F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7ECC941C-2D46-43DC-CF61-2319CBDB2B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A165556-8128-656A-85A0-38B0E7D655DB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D25DD5EE-41BB-D092-26BD-5003A2885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E940622-5EA5-682D-701A-DB948F40F790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8952110-9B2E-ABDB-CA82-E4D6AC11A532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F836351A-CEA0-B7BD-AD68-2ED6201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2837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6A5165F-B2A0-D177-763C-4951BC95B529}"/>
              </a:ext>
            </a:extLst>
          </p:cNvPr>
          <p:cNvSpPr txBox="1"/>
          <p:nvPr/>
        </p:nvSpPr>
        <p:spPr>
          <a:xfrm>
            <a:off x="10024838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2FD06FF1-D413-095C-C46B-03AB321D1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3440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80C4C81-E074-ED1E-B19D-7D25FF3188B2}"/>
              </a:ext>
            </a:extLst>
          </p:cNvPr>
          <p:cNvSpPr txBox="1"/>
          <p:nvPr/>
        </p:nvSpPr>
        <p:spPr>
          <a:xfrm>
            <a:off x="8896013" y="6168633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Commercialized Solution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DCD0E8DA-EDD3-58F4-0C1A-8EA8380C18B9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7635098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67FD8-4E4B-92AE-F285-5E759258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91DF-554F-9D89-D637-3F55B012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7 – S3 – Component Inventory &amp; Movement Tracker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A60489-F92E-F690-3FFF-6A3A662C88FD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Garage equipment, branded panels, and reusable assets are manually tracked via Excel.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Real-time visibility on where items are stored, shipped, or reused is missing.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Setups rely on memory or race-to-race notes, leading to confusion or duplication.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JLR-managed assets move globally, often without standard tagging or tracking..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Component Inventory &amp; Movement Tracker to digitize the tracking of branded and operational garage assets: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Digitally records each component (e.g., lightboxes, banners, signage panels) with QR or barcode tagging.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Logs asset location (storage, in-transit, on-site), condition, and assigned race.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Supports mobile-based check-in/check-out updates at each race location.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Generates movement logs to identify high-frequency usage, aging, or potential reuse conflicts..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QR/Barcode Inventory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Tags each asset with a unique scannable ID.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Tracker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Enables on-site staff to log updates during setup or teardown.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 Assignment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Maps components to their race-specific usage and logistics.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Dashboard View: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visibility into stock, in-transit items, or underutilized components.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31499E-AE69-B66D-3723-20002F2ADEEE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E08C5D-6DAB-FD76-7258-FD1F270FC8AE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27E739-BC5C-8817-76B1-02BF2861E6B0}"/>
              </a:ext>
            </a:extLst>
          </p:cNvPr>
          <p:cNvSpPr txBox="1"/>
          <p:nvPr/>
        </p:nvSpPr>
        <p:spPr>
          <a:xfrm>
            <a:off x="364482" y="4343657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Prevents asset duplication or misplacement across race weekends.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data-led reuse strategy and cost savings by avoiding unnecessary reordering.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race-day readiness and setup speed with pre-tagged asset plans.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dependency on individual memory or siloed spreadsheets.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F5480-D869-7817-E17B-4C28705369DE}"/>
              </a:ext>
            </a:extLst>
          </p:cNvPr>
          <p:cNvSpPr txBox="1"/>
          <p:nvPr/>
        </p:nvSpPr>
        <p:spPr>
          <a:xfrm>
            <a:off x="4310098" y="443099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Reliable, real-time component status tracking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Centralized inventory reduces risk of asset loss or storage inefficiencies.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Data-driven planning for future races and procurement.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Supports smoother garage execution across races.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6DFB2EE-44E4-F908-9753-27CDDD002E20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6ED6572-EED0-890D-614B-09DB54B0B5F3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0CAFFB4-9A8F-F755-1E50-CEEB9CF4C9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572FAE0-759F-E404-F848-CC8C8234D102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206C44F-7312-66E4-13A9-D1E91C05C6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34841E-F465-523F-FAAB-3B8D0CC1803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29A35F8-43AD-BF72-DDF5-22A484D2BCB7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314F72E-29DB-728D-A257-A138B60C623B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3196C1-C00F-C16B-9209-8FC0D57CF0EC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(Mobile App Developer, Logistics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BBA6B29-61AF-02BD-48BF-DD5190D87848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6F851E0-5430-3D3E-FDAC-57AF80547316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B2D1CED-6C28-79F6-A0E3-0951BC706B90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D02957D5-DB29-B204-A82D-D7927DCD3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D35D6D3-63B0-50DD-BC2F-A24FD1FA6A2C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be scaled into a global asset tracking platform across JLR racing and events, integrated with shipping vendors and race planners.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958A26F9-93D3-338C-A78D-A4B5141C7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DE5A8D8B-6FD1-C976-48AE-F6852932D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F9E3EFC-84EC-6132-3FE9-163892AC4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CDB2C71D-C33A-6F4C-DEBC-576E1B9759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25319D8-D336-862A-49F5-9A4E54FB54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0D7D7205-5076-670C-6C2C-9835F85F2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F2D4CFD-569F-8705-A34E-F675D3084B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3DCEA84-975A-1326-9CAF-819C3B017F2C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33ADF401-A3C0-4C1A-1121-FA944517D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5D5A2C1-9803-AAD2-3DC7-21A88913CFFA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12B7FE09-D07C-B94A-4F0C-8637FD58E431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5DF1B811-116C-EE54-5515-1FA665F90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616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81610230-5C8E-DCAB-4638-6CB2F394DB21}"/>
              </a:ext>
            </a:extLst>
          </p:cNvPr>
          <p:cNvSpPr txBox="1"/>
          <p:nvPr/>
        </p:nvSpPr>
        <p:spPr>
          <a:xfrm>
            <a:off x="9897616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66B94E23-95B0-D684-C79C-A5BA46E4E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6219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A043B-9E8A-17AA-59BA-3B177FCD4C2E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63C624E4-3D2D-7837-0C1A-EB7A3EBE79F6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7514685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8A03C-7B56-0E98-4B7A-05856608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0C4-BA88-6601-AAEB-EBB7C9C7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7 – S4 – Reuse Audit &amp; Teardown Dashboard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7A9D6C4-04DC-9288-4414-8EA0AF635B0D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Post-race teardown is manually recorded, with limited documentation on condition or future usability of assets.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centralized system exists to track reuse feasibility or to capture feedback from the setup/wind-down team.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Insights and issues observed during teardown are not stored or reused effectively, leading to missed learning opportunities and waste.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Reuse Audit &amp; Teardown Dashboard, a lightweight mobile-enabled interface to streamline post-race teardown and asset evaluation: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team to log condition of garage assets (e.g., panels, structures, printed branding) after each race.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Includes photo capture, tagging (reusable/ damaged/ obsolete), and notes from teardown crew.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Links back to inventory system (S7.3) to update asset condition and plan for replacement or reuse.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Aggregates insights to inform next season’s procurement and logistics planning.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Teardown Reporting App: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input for condition checklists, photos, and status tagging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Reuse Recommendation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Flags reusable vs replacement-worthy items.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with Inventory Tracker: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Updates component lifecycle status based on teardown reports.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Season-End Summary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Compiles teardown insights for future planning and budgeting.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66F40A-C40C-AB52-B650-332E8D557342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910870-5AF2-A31A-C3FD-2656481BC954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20DB88-1D2F-0FA1-D1BF-2BC23FCDA3EE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Standardizes teardown and reuse tracking across all race weekends.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asset waste and improves planning for replacements.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Builds long-term insight into component durability and event-specific challenges.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Captures qualitative feedback that typically gets lost after race weekends.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78B4C7-F216-65C0-5296-394882833DC5}"/>
              </a:ext>
            </a:extLst>
          </p:cNvPr>
          <p:cNvSpPr txBox="1"/>
          <p:nvPr/>
        </p:nvSpPr>
        <p:spPr>
          <a:xfrm>
            <a:off x="4310098" y="443099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Data-driven reuse strategy helps cut cost and storage overhead.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continuity and memory across rotating teams.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last-minute surprises before garage setup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environmental sustainability by encouraging smarter asset planning.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C201898-7A0F-AD52-EE66-C3C6363D6BAE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D86809B-17A5-09BB-5933-1125A49961D0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C79B25A-911F-151C-D4E3-2CBC41C6B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7F097B6-0A3E-803E-74B3-3E42DA1DB745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FBA6067-5B3E-F282-28CB-1E33471B9D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C203A8-5696-E69C-6736-E96F2867140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296336B7-FF57-CC17-496B-CE4D26FDA055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9AC69A-BAB4-3E22-5FFA-98A2B68F597C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066DA4-1E62-DD50-9650-8B2EF621B165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(Mobile App Developer, Workflow Designer)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AF3E8203-3271-794D-0206-03257B00B7B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F46636D-DD51-1202-2C0A-B23DB527803D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36909D2-D169-217A-B206-70EF0E15AA6C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93BFD08F-0A37-4799-1245-7D22E8B43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09C0E4DB-4F8C-A344-B17B-E95ABBECB8EC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comprehensive Race Operations Intelligence Layer, capturing pre/during/post-race learnings across areas.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DCEB69F-673C-AF81-FFEC-5CF4A711F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3AF69447-B45E-0402-85A3-1F40D72A1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F9E86C71-7A84-688F-6D98-FFDCFCE43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77A778E0-AE05-070D-4E5B-4D574AFE98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1EA7F631-AC75-2635-2034-72476BC7A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73F04E2-9FB8-5105-4EC8-5F03E0369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D30A6683-F266-1BAE-5B72-78810F9BB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58CBADF-596B-D0BA-BD50-0D2FFDA47358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50E7D38-A9B2-6141-2A5E-1D6061DC3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B515566-6EA0-BAAE-8435-186BA2358861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81C1DA5A-E51D-CAC6-055A-8F0B9F139BA4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11D76F-D356-E5AF-07E3-A1B228B3456E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31" name="Picture 20" descr="Flag - Free flags icons">
            <a:extLst>
              <a:ext uri="{FF2B5EF4-FFF2-40B4-BE49-F238E27FC236}">
                <a16:creationId xmlns:a16="http://schemas.microsoft.com/office/drawing/2014/main" id="{F29881B5-C433-E251-F2DE-95E642B7B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6908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73F3167A-FE29-B54D-665A-DEBEFA97C38C}"/>
              </a:ext>
            </a:extLst>
          </p:cNvPr>
          <p:cNvSpPr txBox="1"/>
          <p:nvPr/>
        </p:nvSpPr>
        <p:spPr>
          <a:xfrm>
            <a:off x="10448909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33" name="Picture 32" descr="Lightning bolt - Free technology icons">
            <a:extLst>
              <a:ext uri="{FF2B5EF4-FFF2-40B4-BE49-F238E27FC236}">
                <a16:creationId xmlns:a16="http://schemas.microsoft.com/office/drawing/2014/main" id="{5E673C43-323F-ECEF-E1BD-751F0D28E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8909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039EBD6F-C7E2-0B52-B46D-57A0DCCEA8AA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3995627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62F23-8E5C-995A-976B-23C8D1898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5B50E-729B-7F27-8BC1-67EDFDD84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8 – S1 – Centralized Travel &amp; Movement Tracker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CB29E2D-E8EC-AADD-F7BE-96E256CD0220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centralised view of team members’ travel bookings or location across vendors and JLR functions.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Movement data (travel, hotel, transfers) is tracked individually or via Excel, increasing duplication and confusion.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Race-to-race coordination of ~40–60 people creates high manual overhead and repeated tracking issues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Difficult to plan team logistics or cross-check dependencies without a single reference point.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shared, real-time Tracker that consolidates travel logistics, hotel bookings, and attendance visibility across internal teams and vendors: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Dashboard to view who is attending, travel status, hotel check-in, and team assignments.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Ability to assign people to race events and tag roles/functions (e.g., PR, Legal, Creative, Technical).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Mobile-first interface to allow live updates and status changes (e.g., delay, arrival, room switch)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Role-based views (e.g., PR team sees only media contacts; Finance sees cost per head).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Can integrate with JLR Portal or vendor-provided itineraries for seamless data sync.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Web Dashboard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Tracks personnel by event, role, and movement status.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Role-Based Views &amp; Filters: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Helps control access by function (PR, Ops, Legal, etc.).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Travel Data Sync Plug-in: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Pulls booking details from Excel/JLR Portal/API if needed.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C6A307-C915-D358-263D-C28FDA6FCD6C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997CED-A924-6102-DC52-1408AF07579A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5167EA-5A80-42D5-E45F-1779BA9F78B3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full visibility of team movement, enabling better planning and coordination.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risk of missed handovers, untracked arrivals, or duplicate bookings.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Optimizes accommodation and logistics allocation by tracking utilization.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21C50-88CD-76FE-8C77-B7378DC73D6E}"/>
              </a:ext>
            </a:extLst>
          </p:cNvPr>
          <p:cNvSpPr txBox="1"/>
          <p:nvPr/>
        </p:nvSpPr>
        <p:spPr>
          <a:xfrm>
            <a:off x="4310098" y="443099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Saves 20–30% planning effort across races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inter-team coordination based on actual presence.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Prevents missed communications due to fragmented travel awareness.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Strengthens cross-functional accountability and planning efficiency..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01DF7EF-8C8B-A443-3FDB-AA1448960DB3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C1BDB12-C199-A7E3-7587-452948F947C6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917A310-32BE-F2B1-AA52-5C3515D2E5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965314C-4C40-00D8-FFC4-09F69F6F7EA0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1B8E0CB-C8FC-5C75-EA74-BAA28CCA8C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DA592A-6C6B-C392-EBB1-911E0D0149A8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DE7C218-7D54-60EE-5710-CB82F2DF87B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2E84AA-A462-FF85-03CA-C4CC8C8EC4B9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1684C24-05DE-21FB-398E-0A2C90B1AE11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(Developer, Logistics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56935E2-E4FC-8EFB-5504-109D3837C5AA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4A2FF11-A201-B15C-A52F-C191FACC9B8A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BBB2D45-CAB2-9C84-8EE6-6754725E7774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847AD35B-C685-6A57-3579-8B6094F1E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464104F-616B-CC7F-C926-D8146F7E2EEA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be extended to include guest movement, sponsor travel, and VIP hospitality logistics across Areas 3 and 4.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A643D0D-5109-50D7-B444-0175E63B6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0BF1BA32-6372-BD5C-70AE-98BB34D38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53F5628F-B4E0-B603-EB6A-1DBAABE32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5E2E77E2-52D4-DFF6-EFDD-85C16BBCEF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39520FA8-269F-8A39-A1F6-4E03589F2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AD5C965D-8C34-4DD3-607E-AA22724F9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CC8149EF-1CA9-EB1F-DF27-32067AE03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3BF2B6E-1ABC-7414-7314-4BA0F9D57D19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56DA9AE6-F943-532A-870D-B59A5D460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93DD886-104C-9F71-AD06-AE85A834A3EF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02C4AEED-2FCB-1565-DDE0-B5BD4F948D2B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8823CB-F398-CE37-30BE-76436FB4D44A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C0ED710B-7823-957F-00E1-9512300BD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439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764181-732F-3C98-1789-FF7A95675F3F}"/>
              </a:ext>
            </a:extLst>
          </p:cNvPr>
          <p:cNvSpPr txBox="1"/>
          <p:nvPr/>
        </p:nvSpPr>
        <p:spPr>
          <a:xfrm>
            <a:off x="10035439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3" name="Picture 2" descr="Rocket - Free transport icons">
            <a:extLst>
              <a:ext uri="{FF2B5EF4-FFF2-40B4-BE49-F238E27FC236}">
                <a16:creationId xmlns:a16="http://schemas.microsoft.com/office/drawing/2014/main" id="{0CA5E69D-54C9-925E-3ABC-AC2BA369F6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041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Arrow: Left 24">
            <a:hlinkClick r:id="rId16" action="ppaction://hlinksldjump"/>
            <a:extLst>
              <a:ext uri="{FF2B5EF4-FFF2-40B4-BE49-F238E27FC236}">
                <a16:creationId xmlns:a16="http://schemas.microsoft.com/office/drawing/2014/main" id="{F3DAFB29-BB0A-A775-FAEA-FC666647CCFA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2675709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32918-9755-A365-DB8D-83A015F83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37F6F-E4D8-31BC-B91E-0381FE458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8 – S2 – Digital Run Sheet &amp; Live Scheduling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77184E-4C08-7A91-EA7C-322DE2B7A197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Run sheets are created in Excel or PDF and shared manually — updates during race day are managed via WhatsApp.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Multiple teams (PR, Partnerships, Legal, Guest Relations) rely on different versions of event plans, creating misalignment.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 tool exists to manage both internal crew schedules and external activations in real time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When delays or changes occur (e.g. red flag, VIP rescheduling), no system dynamically reorders or reassigns time blocks.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Consolidates race weekend activities — from team movements to guest events — into one dynamic platform: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input and visualization of time-bound blocks across internal ops and external activations.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Schedules include: crew arrival/departure, pickups, hotel movement, media interactions, sponsor moments, driver interviews.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real-time drag-and-drop rescheduling, with auto-alerts to affected stakeholders.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Offers role-based filters for PR, Guest Ops, Garage, Legal, etc.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Tracks dependencies, flags scheduling conflicts, and logs adjustments for traceability.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Interactive Timeline Interface (Web + Tablet view):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Manages multi-team scheduling.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Delay Cascade Logic: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Auto-reschedules affected items during disruptions.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Role-Based Access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Filters views by function, location, or priority level.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Alert &amp; Audit Trail System: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Logs changes and sends real-time notifications.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8A75AE-0ADA-B2FF-25B9-D2BEDD67A99A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D7B4BB-8080-D275-C1E2-5092A9DCF6BE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072DC5-1429-47D1-2921-D5DF9F90DF8D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manual coordination overhead across teams.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Eliminates scheduling conflicts during high-pressure events.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live adaptability during red flags, weather changes, or guest delays.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alignment between internal ops and sponsor-facing activities.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B6EC7-CB2B-D562-B0D2-1D3F79308DBF}"/>
              </a:ext>
            </a:extLst>
          </p:cNvPr>
          <p:cNvSpPr txBox="1"/>
          <p:nvPr/>
        </p:nvSpPr>
        <p:spPr>
          <a:xfrm>
            <a:off x="4310098" y="43610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operational discipline and guest experience reliability.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Central reference point for all race-day scheduling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reliance on static documents and chat groups.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better time utilization across stakeholders.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51BCB1-D0C8-FBDD-8B5E-29AA1B980014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B50B9D6-1D20-4F2E-E1E8-C3A117FC4128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E094A91-D300-95B8-61B7-5AFFAB36BB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A3DD0D1-61CD-FF85-2894-B8123486C14A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BFE469D-1607-0941-F442-066CD9F73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F32D4BD-0F26-E8AE-B340-7ECDB6C8D6FE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C96C908-4A04-0D5F-BF2D-D6071EE18EB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00F7C1-4AE9-110F-ABC2-2B189DCC1EAB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EEC350-18E4-9A52-9FA5-89EADD73C112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FTEs (UX/UI Developer, Scheduling Analyst, Integration Support)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A95F2E6-AEE3-6BA3-379E-C5DD3447EA2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C5B6AB8-4F80-8656-B0F4-F414C7703D51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6A8613-ADFF-AFF5-1731-68303CE716F9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E3913BC1-E6F5-2D1B-0C3A-37D4004FB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CC623CD-1D36-32AA-BF44-17C2D8155208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Global Event Operations Scheduler, extended across sports properties and third-party activations.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0B29A49E-1691-3381-7B95-3B072BB30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58312A26-5FBB-4F26-DD77-460457B92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CCF54BFB-027D-B8C5-491E-6C9C30A13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2AE068F8-B247-7005-8109-3C88464FC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5B72B0A5-D8DC-C24D-210B-84408503A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EDFCDFF-1D08-0C7C-A02F-4DA47D9D2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F58C9E0F-FEA7-3B9D-AD2C-BF5E2676C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DAFBA75-0B53-3518-BDF3-BA74CF6544D6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4E206B63-7A10-90F1-DE92-F78761C8A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034411B-547C-9415-8F7C-47E9D6A4A570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9D815183-EEB2-40D5-16CF-39B3399CADD4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58CF6CDD-E725-A745-AB1C-DB1B0A7E1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5847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122AB00-E487-DF50-0D9D-090BDB978804}"/>
              </a:ext>
            </a:extLst>
          </p:cNvPr>
          <p:cNvSpPr txBox="1"/>
          <p:nvPr/>
        </p:nvSpPr>
        <p:spPr>
          <a:xfrm>
            <a:off x="10077847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3" name="Picture 2" descr="Rocket - Free transport icons">
            <a:extLst>
              <a:ext uri="{FF2B5EF4-FFF2-40B4-BE49-F238E27FC236}">
                <a16:creationId xmlns:a16="http://schemas.microsoft.com/office/drawing/2014/main" id="{345565F6-2DA3-AB8D-1A03-74838344A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6449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967305E-8553-8357-0EE4-573441C92A2A}"/>
              </a:ext>
            </a:extLst>
          </p:cNvPr>
          <p:cNvSpPr txBox="1"/>
          <p:nvPr/>
        </p:nvSpPr>
        <p:spPr>
          <a:xfrm>
            <a:off x="8896013" y="6119866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8798B103-2703-FC7C-B2BF-6E0220210A0C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7731744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A65C9-5D0F-AD02-80E5-E8C3B966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600F9-73C2-05BA-8613-4DB97AA1C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8 – S3 – Setup &amp; Logistics Window Manager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46640A-1E40-406B-A434-80458BF809F0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97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Setup timelines for hospitality suites, garage zones, branding installations, and other logistics are managed independently — creating overlap and execution clashes.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Delays in one setup (e.g., hospitality dimension mismatch) often disrupt other teams without visibility or contingency tracking.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 scheduling layer exists to map setup windows, teardown plans, and interdependent actions.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Last-minute improvisation becomes the norm due to lack of real-time conflict alerts or milestone coordination.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collaborative scheduling tool to coordinate physical setup and teardown phases across vendors and internal teams: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Logs setup windows for key activities (garage build, hospitality suite install, branding panel placement, equipment delivery).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stakeholders to reserve, view, and adjust setup slots with dependency flags.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Provides milestone tracking (e.g., structure handover, inspection clearance, AV checks)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Issues alerts if slippages affect downstream activities or cross over with teardown/crew timing.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Gantt-style Calendar View: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Interactive setup slots mapped by race site and area.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Dependency Mapping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Flags bottlenecks when one action impacts another.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Notification System: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Sends updates on slippages, overruns, or rescheduling.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Role-Based Access: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Internal teams and vendors can view/edit their relevant slots only.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990824-BDAD-6DDE-C914-2679F96FA55A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87EC7C-B341-D4C2-7380-C40B0B5DD313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CF3600-A6D6-4522-2A0C-259D9E028823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execution clashes and last-minute chaos.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collaboration between internal functions and third-party setup teams.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accountability for delays and cross-functional awareness of timelines.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Allows buffer planning and race-to-race template reuse.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C014A-60CC-18BE-5482-C27C4A285CED}"/>
              </a:ext>
            </a:extLst>
          </p:cNvPr>
          <p:cNvSpPr txBox="1"/>
          <p:nvPr/>
        </p:nvSpPr>
        <p:spPr>
          <a:xfrm>
            <a:off x="4310098" y="43610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Operational consistency across global races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rework and setup friction.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Strengthens vendor performance tracking.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Frees up internal effort for race-day readiness.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00DBCE-42A9-8DB4-89D7-0622DFE6FACE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F45AE2B-D8A7-9758-FFA6-F4D76BB86D8F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2BFAA99-482A-31C3-D193-49C5BF48FD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CBC171D-11A5-ADE5-F20B-239909000C7D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20C7760-165E-1D03-D4E9-F7C7622F2F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74A56DE-B406-8F11-75E6-870482C2B20F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E4245EC4-772D-85FF-F4AD-11C9D49CC436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F1B015A-AC44-591A-DF64-BD46C6A9F9F4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5FAC603-1FB8-2935-7502-EEF8A4356B12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(Scheduling Developer, Ops Coordinator)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6EFD804-6884-DA3C-D551-56426B8FD883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945B959-2BED-691C-A711-FE53AF78CF05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A27642F-C07D-4472-5448-AF9943C1DBAF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535831FB-FB1B-2379-BD9D-52E37C66D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6A6A8B3-37B9-98E5-B2BB-4BD4EF556C81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extend into a full Race Setup Orchestration Tool, linking assets, milestones, vendor SLAs, and teardown coordination.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5D6F9B0B-8E84-98C7-0881-FD6689CE1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5190307A-2FF5-C71F-0A4F-39160C7A0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7D05879-E7A7-E776-47D6-93E3A34F3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DD5E1C65-CC95-385D-0325-252677B2D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A08EB8EB-0BDE-3063-E866-AE8E86D9B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EAE3C28-17C2-B964-BA11-30CED8E27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2D2C5986-871A-1F78-1C03-7C43CF089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DF3607A-7449-570C-E530-28238F8CED9C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BEF9761D-96D2-1576-AB95-3E2292A95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DBEACA4-9620-CD9E-D17A-DC93D648BB90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C8C609EC-E575-22E3-1FCA-E1214837FFC5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D82C0-60CB-F215-E96A-4DBA0D1B988A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8C1D4EA0-6FFC-A25F-3667-B5ECB73FC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37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871127B-5BE6-D51A-9980-3E91C699C84F}"/>
              </a:ext>
            </a:extLst>
          </p:cNvPr>
          <p:cNvSpPr txBox="1"/>
          <p:nvPr/>
        </p:nvSpPr>
        <p:spPr>
          <a:xfrm>
            <a:off x="1047037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31" name="Picture 30" descr="Lightning bolt - Free technology icons">
            <a:extLst>
              <a:ext uri="{FF2B5EF4-FFF2-40B4-BE49-F238E27FC236}">
                <a16:creationId xmlns:a16="http://schemas.microsoft.com/office/drawing/2014/main" id="{5851C226-B78F-4F37-3FE2-1DCB788E5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37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6DA43D81-3A30-3809-EBC1-91FEF28B22F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7255248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53A0A-448C-3688-8076-50333127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53424-E334-6624-829E-56AF25DA1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8 – S4 – Event-Day Incident </a:t>
            </a:r>
            <a:r>
              <a:rPr lang="en-GB" err="1">
                <a:solidFill>
                  <a:schemeClr val="accent1"/>
                </a:solidFill>
              </a:rPr>
              <a:t>Replanner</a:t>
            </a:r>
            <a:endParaRPr lang="en-GB">
              <a:solidFill>
                <a:schemeClr val="accent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4EA7FA-48C0-AD29-E297-2618118CE3C6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Race-day disruptions (e.g., red flags, driver interviews overrunning, late VIP arrivals, weather delays) require urgent replanning across departments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Rescheduling is manual — handled through WhatsApp, calls, and fragmented updates — creating misalignment and missed handovers.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 system exists to track cascading impacts or reassign slots in real time.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Teams operate in silos under pressure, often making inconsistent or conflicting changes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an Event-Day Incident </a:t>
                      </a:r>
                      <a:r>
                        <a:rPr lang="en-GB" sz="1200" b="0" err="1">
                          <a:latin typeface="+mj-lt"/>
                        </a:rPr>
                        <a:t>Replanner</a:t>
                      </a:r>
                      <a:r>
                        <a:rPr lang="en-GB" sz="1200" b="0">
                          <a:latin typeface="+mj-lt"/>
                        </a:rPr>
                        <a:t>, a lightweight digital module integrated into the live run sheet system (S8.2), designed specifically to manage and realign activities when disruptions occur: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central input of incidents (e.g., delay, change, conflict), triggering live adjustment of impacted time slots.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Automatically suggests alternate time windows for affected sessions (e.g., PR, hospitality, partner meetings).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Notifies affected teams and updates run sheet views in real time.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Maintains change log and rationale for traceability and performance analysis.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Incident Flag Module: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Input disruption type, expected delay, and impacted zone.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</a:t>
                      </a:r>
                      <a:r>
                        <a:rPr lang="en-GB" sz="1200" b="1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Replanner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Shuffles timeline blocks intelligently with minimal disruption.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Notification &amp; Audit Trail: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Alerts relevant stakeholders and logs changes.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with Run Sheet Tool (S8.2):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Acts as an add-on module, not a separate tool.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7004E7-3EFF-994F-C87B-37C2A77F77AD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9185B-FAA7-9FBD-BEAC-A854A4259916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9B3537-334E-84E6-AF3C-DF64944880FC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decision bottlenecks during race-day pressure scenarios.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multi-team adaptability to last-minute changes.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Maintains professional guest experience and PR precision despite delays.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Supports post-event debrief with structured logs of what changed and why.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CA12B4-EE8C-510F-1031-94E890EDAB20}"/>
              </a:ext>
            </a:extLst>
          </p:cNvPr>
          <p:cNvSpPr txBox="1"/>
          <p:nvPr/>
        </p:nvSpPr>
        <p:spPr>
          <a:xfrm>
            <a:off x="4310098" y="4361042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Fast, accurate, and aligned rescheduling during race-day incidents.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Fewer conflicts, missed sessions, or confused handovers.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Stronger cross-functional situational awareness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Greater control under dynamic event conditions.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33BD4D-8091-8387-5D44-E25D19C7CE59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D4D0F96-7D10-D164-728A-AA5E26FFBA2A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91279DB-CB44-4761-6096-3BDFD66B86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A43F93C-FE68-4970-7F4C-36E41C15CEB9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D1B7313-3F3D-BDC8-D53B-C74800D51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C2FDEA-7C25-AAA0-D2BA-E96F71D541F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07C382F-21DC-E33A-6B2B-6EB594F19271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04F6326-9B64-9879-B191-80B4ACDE9C1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CE9F17-D0F1-5756-FB0D-2BE9AE976454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(Workflow Developer, Integration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8D2FBDA-0167-C990-D30B-BC63E21E7A57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EDA7586-28AC-8196-FB4F-FE97DC3F7B2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14BA5E0-291F-BD1B-2AC4-2FDA35518140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DEDD5409-8089-E984-5F09-D00F0C66BB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897FFBB-309D-8CC4-39DE-4178F837EAD2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Predictive Disruption Engine, with AI-powered forecasting of knock-on impacts and automated slot negotiation.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92BC66B4-2F82-B697-F12A-4295223E0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AA2A154F-334C-4B10-4403-2F1E9D295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B1F4BA07-5FD8-3499-8D18-53A6AF772F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38D38E06-EFC5-CB97-2BC0-C072D8504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0EF9E8B1-46A6-00AA-0345-71FD8F5830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642E5DB8-B915-1F7F-FF42-9E6456D1A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50FDBC9-6273-A8C5-90C1-D51662FCB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C484F28-DA95-892C-6C7B-CFF666B264BA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C0BA4610-7F02-F76F-24F7-C27F50225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F484FD3-1C2E-3419-5DDB-4A43CA3E12B8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D08C42BB-AC5D-4C41-25AF-4142B079F836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F9D8D78E-6CA4-6838-49FF-785F412EC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439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6002487-4C55-5DFE-BA1D-E39F57C929D7}"/>
              </a:ext>
            </a:extLst>
          </p:cNvPr>
          <p:cNvSpPr txBox="1"/>
          <p:nvPr/>
        </p:nvSpPr>
        <p:spPr>
          <a:xfrm>
            <a:off x="10035439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3" name="Picture 2" descr="Rocket - Free transport icons">
            <a:extLst>
              <a:ext uri="{FF2B5EF4-FFF2-40B4-BE49-F238E27FC236}">
                <a16:creationId xmlns:a16="http://schemas.microsoft.com/office/drawing/2014/main" id="{B78BFEA5-87D9-3C71-996B-4582AD6C6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4041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8E69383-7154-7CC4-68CA-DC9B41719BA0}"/>
              </a:ext>
            </a:extLst>
          </p:cNvPr>
          <p:cNvSpPr txBox="1"/>
          <p:nvPr/>
        </p:nvSpPr>
        <p:spPr>
          <a:xfrm>
            <a:off x="8896013" y="6119866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3048DEFC-26B6-26B4-33C4-F2D997622BC9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6422806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1C8D7-A298-2136-DEBE-96470AAF7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48A81-8D46-20B5-2F7C-0A834B824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8 – S5 – Team Protocol &amp; Briefing Compliance Tool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31A558-C432-979A-03C8-5BD9C7436DB6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Crew teams change race-to-race, with a mix of internal members, contractors, and vendor staff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Protocols (e.g., hospitality behaviour, partner handling, race etiquette, uniform compliance) are shared informally or repeatedly briefed.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standardized onboarding or acknowledgment process exists to ensure every member is race-ready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Last-minute onboarding or non-compliance creates friction in high-visibility scenarios (e.g., guest handling, sponsor interactions)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mobile-accessible onboarding interface designed to align rotating teams on key protocols before each race: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Digital checklist covering do’s/don’ts, brand tone, escalation rules, communication standards, uniform guides.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Acknowledgment flow for each member with digital sign-off.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Race-specific briefings pushed 48–72 hrs before event day.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Admin panel to track completion and flag unacknowledged users.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Web App: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No-install access with race-specific modules.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Briefing Builder: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Allows ops/brand teams to upload content per race.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Acknowledgement Workflow: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Tracks who’s read and signed off.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Reminder &amp; Alert System: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pending confirmations before go-live.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4E83CD4-91C4-8E63-9DC7-E8D5446915D4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1748385-F5E4-54AC-AB58-D43DAE140C61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4508C9-1691-8B75-267A-74F606771B56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Standardizes team alignment across changing personnel.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compliance with brand expectations and race-day rules.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briefing redundancy and last-minute confusion.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guest and sponsor experience by aligning front-facing roles..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9D2E61-A663-6050-01B6-2CB8385C314B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Confident, protocol-ready team at every race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Reduced missteps in high-stakes guest or media scenarios.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Repeatable process usable across future events or sports.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Light, scalable solution that replaces manual onboarding meetings.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DC06CB7-4DC9-14D1-04F6-E1FB97E478E3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6052803-C868-C49A-5960-036001032F95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4DF7FFB-0CD0-396F-81D6-E080285541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259D3E-752D-141C-CCA7-1A6A1C66CE3D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7CBD9FD6-5CCE-450A-4131-647A8BC131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52DE82-5BD2-0F0C-BBAA-273657AB5112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942FBF98-5C1D-2F8D-4317-2D8FD411965A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8C7D96A-9EE0-7EF5-DF91-93C18AF34D54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8AC547-6C3B-091F-677C-EF83B93268DA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(Front-end Developer, Ops Comms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8A49794-884A-3D24-84A2-4324D2DB2465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24D8A97-8AD4-0143-4F58-A912B276DC9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7CED9C-FFBD-56A2-8705-E54F8BB04719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52AB5679-9F5C-B155-6C3A-9028509E90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19E4869-3325-562A-DB62-0C68B815C76D}"/>
              </a:ext>
            </a:extLst>
          </p:cNvPr>
          <p:cNvSpPr txBox="1"/>
          <p:nvPr/>
        </p:nvSpPr>
        <p:spPr>
          <a:xfrm>
            <a:off x="8892639" y="5308878"/>
            <a:ext cx="2934879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be expanded into a Role-Based Digital Playbook for PR, Legal, Hospitality, or Tech staff across events.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3E34B21-550F-8B84-A237-EC90AD2AC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555CD7F2-BBAA-C72A-6ADD-31EF3C83A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784DB70E-2AE5-075B-65EB-E2C335763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007A53D9-5E38-6063-6963-2FEBE3760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804E392E-3713-44E5-A4C6-79479CC71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0091B180-6DBC-D7DB-E94B-825E8C48F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331E1B4D-4331-3C71-11E6-C09504FA3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EB13819-15AF-0117-6C42-5C2EB8117BA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762199BB-63BA-7C1D-E454-8D0A2A940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FC8007F-0200-3480-7E7C-1B54DB64C90C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8AA7EF85-F6F6-8351-5A0E-9BD23AB6928A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1623D-6452-3CE3-2CD7-FA50C317FA9D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D2EC3355-10BC-BB7F-4100-892CB338B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388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1FBA48A-1EDF-F35A-D8A1-1E7D20EED94D}"/>
              </a:ext>
            </a:extLst>
          </p:cNvPr>
          <p:cNvSpPr txBox="1"/>
          <p:nvPr/>
        </p:nvSpPr>
        <p:spPr>
          <a:xfrm>
            <a:off x="10576389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31" name="Picture 30" descr="Lightning bolt - Free technology icons">
            <a:extLst>
              <a:ext uri="{FF2B5EF4-FFF2-40B4-BE49-F238E27FC236}">
                <a16:creationId xmlns:a16="http://schemas.microsoft.com/office/drawing/2014/main" id="{B40C52BC-FEDB-3FE7-7FAC-8BF0CEDCC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6389" y="301627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ED0A74ED-7F55-7449-8FDB-902884CEF82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373428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EB3BA-80A1-1D2B-B1F7-ABA074F49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1FDBB-8853-83F0-8990-1E268D4EE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9 – S1 – Creative Workflow Orchestrator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14D275-0B5C-6038-1AC0-1E14A2D1119D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Creative asset approvals are routed informally via email/PDFs, with no version control or audit trail.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High-pressure timelines often result in rework due to delayed approvals or last-minute feedback.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Lack of real-time visibility across Legal, PR, Brand, and Partner stakeholders.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centralized workflow platform to streamline creative production and approvals: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Pre-set templates for key asset types (e.g., hospitality suite visuals, garage branding, social content).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Role-based approval flows with branching logic (e.g., Legal + Brand + PR).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Real-time dashboard for status tracking and ownership visibility.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In-line feedback/comments with time-stamped versioning.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Notifications/escalations for pending or delayed approvals.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AI-based flagging for potential branding compliance deviations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Workflow Builder (Power Automate, Adobe Workfront, or SharePoint Designer)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Version Control with Commenting (SharePoint/Adobe Cloud)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Integration-ready with content storage tools (e.g., SharePoint, DAM)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654E41-A319-7F31-FA2D-2FCB8C51B2F3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A722454-35BB-F284-B10C-34DCCC47D863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AFE19-0C45-C431-DB7C-E2F3207B1AAD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back-and-forth, missed approvals, and rework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alignment across departments before race deadlines. 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Increases accountability and auditability.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4D382A-D6EE-3C8B-8D35-C86C1FB4CF9E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Accelerated asset approval cycle across stakeholders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Reduced manual overhead and inbox clutter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Clear traceability across versions, feedback, and final sign-off.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88A0DE9-5985-89A5-90BF-30DAE366965B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6132FB8-5DE7-CF14-696E-EBA0F21D3C5E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0C85E5E-224D-DECD-3866-52D87F0F76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63A4748-B4A9-F74F-12AD-C1D82E14EA7B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FB72E5B-6E42-2E1E-6093-000E41775F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915DBBB-4C8B-1F75-D817-1A6D6579E00C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9A48F5C-6B33-99D2-CE67-6F19F1266C5C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82B82B-E99F-C3BE-0199-82EF22861943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E73C2D-E92F-4E7C-073F-463EE186F33A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(Workflow Developer, SharePoint/Automation Admin)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8E5309B-42CC-EECA-2C61-E9C0D1EBD92D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C9177DC-A034-4ADB-FA91-588A3608DDC3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03B751B-C56D-89B0-3CAE-CFA5DBA6ABD6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BF85E148-27C9-EB54-E4F6-3CB948252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65C6EF3-6920-BCAE-A52E-FE568EBF1C2A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full Creative Delivery Tracker, mapped to race calendars, vendor print windows, and real-time sign-off reporting.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8BEE05D4-0BDC-A353-1262-56609FF8B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34C5C5B4-C74F-5193-6AEB-A7116EB65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F5DE0BF8-4EA7-DE40-C0CE-AA940DD4E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0594F6EA-AAFD-4A5F-3630-988E3E559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32BF5851-7DDB-00EB-DF91-0302428F4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C0524E59-1188-1B53-58B0-5E7308060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B726E48A-8281-2072-7E64-70986EC68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6C18BFD-9828-1F22-6026-110090EEBC14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8AB2BDC7-77FA-61C0-AE62-7E159F6EB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4C91FBC-0DCD-C65E-2EDF-2885E5DBBC46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3901BB6F-5DB0-4515-C822-E69D876C2824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D7DE6-D22C-169C-2301-14501A90B292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CC79A0C1-697B-C157-1369-370F65A57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371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5AE7E846-999E-029D-36C9-C8A42B624E25}"/>
              </a:ext>
            </a:extLst>
          </p:cNvPr>
          <p:cNvSpPr txBox="1"/>
          <p:nvPr/>
        </p:nvSpPr>
        <p:spPr>
          <a:xfrm>
            <a:off x="10470371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13" name="Picture 12" descr="Lightning bolt - Free technology icons">
            <a:extLst>
              <a:ext uri="{FF2B5EF4-FFF2-40B4-BE49-F238E27FC236}">
                <a16:creationId xmlns:a16="http://schemas.microsoft.com/office/drawing/2014/main" id="{3988DF38-8341-9FF8-00C1-E2902A7A3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372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Arrow: Left 21">
            <a:hlinkClick r:id="rId16" action="ppaction://hlinksldjump"/>
            <a:extLst>
              <a:ext uri="{FF2B5EF4-FFF2-40B4-BE49-F238E27FC236}">
                <a16:creationId xmlns:a16="http://schemas.microsoft.com/office/drawing/2014/main" id="{0F65DFF0-E3D6-CB66-9E11-BDEEF6A3F057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9361875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EECBD-11AE-7350-7386-9F0517CC5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CA52E-15F3-0E05-D757-0019A93D9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9 – S2 – Smart Logo &amp; Asset Validator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E3CB3B-A16D-A100-BCE4-EDB7F45F437B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Branding layout checks (logo placement, size, hierarchy) are done manually, often causing inconsistencies or missed corrections.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Last-minute errors in printed assets or digital visuals create compliance risks with sponsor expectations.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intelligent mechanism exists to validate visuals against brand rules and layout standards before approval.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an AI-powered Logo &amp; Asset Validator that scans creative layouts and validates them against pre-defined branding rules: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Detects issues in logo positioning, sizing, spacing, and sequencing (e.g., primary sponsor vs supporting).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Flags visual conflicts, outdated logos, and layout deviations from contractual templates.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Offers plug-ins to Adobe Creative Suite for in-design validation.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Supports upload-and-check workflows for vendors or non-design teams.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Maintains audit logs of validations and suggested corrections.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visual recognition engine trained on JLR sponsor layout libraries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Adobe plug-in or browser-based validator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rulebook and template logic library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SharePoint/Imagen integration to ensure latest logos are always pulled in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2BCEA9-27D6-736F-4242-A501FA93DAE0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CF150BF-DA68-FC79-EAEB-FCCAC408195F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82FFA-0D44-B8FA-26E5-1B2F5A1EA480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Minimizes costly rework and printing errors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consistent sponsor representation across garage, suites, digital, and apparel assets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Increases speed of creative finalization without sacrificing quality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D34B5-69B1-8BA3-514D-BC9D8FAC4201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sponsor satisfaction and brand compliance.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creative sign-off time for Brand and Partnerships. 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Adds confidence in asset consistency across global races.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8FE186-1DC4-46A8-EDEB-8666462E7918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0942461-CB25-88A1-B585-067E9D390FA2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87F4C99-BCF7-818D-9A86-168AE15D76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C044BAD-4990-2EAD-5ADE-2EEF5B66C61A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814E628-2795-F2A9-3F27-CC7B46508F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E82D94-7534-C90F-8FAB-02EB55EBA6E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A180F3DE-9596-4A64-B054-BDC64FD6F81C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DE214D-7541-9B84-448B-078433E86D92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7310E6-F1F5-E4D8-B9D0-52F366C8221C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(AI Developer, Adobe Workflow Engineer)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F252CB05-B4A9-C77B-D68F-D5D53889CEA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EBA336-B41B-2D07-4B4E-34323BF3A640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602A7C-74F5-E84A-3EA9-3A2F1276F795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F0A40579-DCC8-371A-A766-C1FCC1A7F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A9EF66E-B9D5-6BB4-511B-493D0727A29B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Sponsor Branding Compliance Engine that covers apparel, garage, car livery, and broadcast overlays.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3C0D6640-7C75-14BC-DBD3-14972973DE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71CF835F-FB44-AB4B-73BF-A8E7130F6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1BCEA4C6-5EFA-C303-C587-402E93B95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157310B-09FC-6C29-B2B1-FB8CCF6C7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B8FF4B26-3D9D-CB39-64A6-9C50CE388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111269AF-D949-0BE8-1CF7-5DAA4345F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B8AF9AB-4892-0C3D-5D1D-68FB4B664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B351E9B-69A6-FC39-50D5-00B9F6C089C8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0C0FEEA1-2AF0-27F4-849E-501E05773B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F9D43F2-F637-829E-1DAF-52242C1F8CE6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AB80A845-67B0-AE4D-0304-9A1436A692D6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DF7B45-A894-3352-6303-A958F28521EB}"/>
              </a:ext>
            </a:extLst>
          </p:cNvPr>
          <p:cNvSpPr txBox="1"/>
          <p:nvPr/>
        </p:nvSpPr>
        <p:spPr>
          <a:xfrm>
            <a:off x="8903240" y="6210097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Commercialized Solution</a:t>
            </a:r>
          </a:p>
        </p:txBody>
      </p:sp>
      <p:pic>
        <p:nvPicPr>
          <p:cNvPr id="22" name="Picture 20" descr="Flag - Free flags icons">
            <a:extLst>
              <a:ext uri="{FF2B5EF4-FFF2-40B4-BE49-F238E27FC236}">
                <a16:creationId xmlns:a16="http://schemas.microsoft.com/office/drawing/2014/main" id="{D4B502A7-237E-9F97-CDFA-A242CD39F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8255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C4E0DFE-674F-4D67-B169-D889B6A6A441}"/>
              </a:ext>
            </a:extLst>
          </p:cNvPr>
          <p:cNvSpPr txBox="1"/>
          <p:nvPr/>
        </p:nvSpPr>
        <p:spPr>
          <a:xfrm>
            <a:off x="10120255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5" name="Picture 2" descr="Rocket - Free transport icons">
            <a:extLst>
              <a:ext uri="{FF2B5EF4-FFF2-40B4-BE49-F238E27FC236}">
                <a16:creationId xmlns:a16="http://schemas.microsoft.com/office/drawing/2014/main" id="{3B9E2672-B7AB-862B-3356-20261336A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8857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7BF29B94-C560-53D5-322B-1CC9FB4045AC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1829097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FC059-B852-EA37-C803-EEA8D36B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4836-9BA7-55F0-38E1-BA2A0D05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9 – S3 – Asset Intelligence Hub (AI-Tag + Search + Deduplication)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7B59BE-F886-490A-1551-520227541D83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Over 600TB of creative assets are stored without intelligent archival, reuse tagging, or searchability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Teams struggle with discovering relevant images or footage, leading to rework and missed opportunities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Duplication and outdated assets inflate storage costs (~£85,000/year).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structured logic exists to decide what to archive, reuse, or discard.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an AI-powered Asset Intelligence Hub that automates visual tagging, deduplication, cold-storage orchestration, and smart search across creative assets: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Automatically tags media by sponsor presence, sentiment, race moment, asset type, and location.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Flags duplicate or near-similar content, suggesting archiving or deletion.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Integrates a search-first interface that supports lookup by sponsor, tone, driver, or visual theme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automated tiering into cold storage (e.g., Azure Archive, AWS Glacier) for low-use assets while preserving fast metadata lookup.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Connects to current systems like SharePoint, Imagen, or local NAS setups.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models (Vision + NLP) trained on JLR content for tagging and similarity detection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Deduplication engine for images and media snippets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Metadata-first search interface with rich filters and preview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Cold storage integration (e.g., Archive tier APIs with live metadata hooks)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DAM connectors (Imagen, SharePoint, etc.)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82543EC-F6AA-B0E6-62CF-8975C4E234B4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530138-1E42-4993-9372-579832BFB8D9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635896-8B5C-9E97-384A-5D0184A8159C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Drastically improves discoverability of relevant, high-value content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Streamlines asset reuse across races and platforms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Controls cloud storage spend through smart archival recommendations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Boosts collaboration between teams by enabling centralized asset intelligence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F206F-D320-8E4E-C04F-828A665E23B9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Saves time across Creative, PR, and Marketing for content sourcing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cost and clutter by removing redundant or outdated media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Accelerates campaign development and storytelling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Supports long-term brand compliance and archival strategy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DC55CD-DB38-9AB9-E042-B8594DB20C64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A90A482-38BF-7211-9E43-D0C418A3C8BF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4D07008-BB2A-E69E-7498-D2B882095B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ED5C7E8-17DB-AA4D-2C0E-CFB21A70CB7D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BAEF3CD-7EC2-4282-6592-626079A606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097A13-554C-7058-5D3E-BFDBEE14A9B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130857C-BA22-A3D8-D05F-AB18FB38FF8F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BF89302-C4F9-9249-3D63-146EA3A73016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6 – 8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AA4B14C-0A73-795C-962A-409A5D52EEF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FTEs (</a:t>
                </a:r>
                <a:r>
                  <a:rPr lang="it-IT" sz="1200">
                    <a:solidFill>
                      <a:srgbClr val="000000"/>
                    </a:solidFill>
                    <a:latin typeface="Calibri" panose="020F0502020204030204"/>
                  </a:rPr>
                  <a:t>AI Developer, Metadata Architect, DAM Integrator</a:t>
                </a:r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9B99167-DDF8-053D-704F-D80AB0B08252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4DFCA7-9CDB-9FEF-C8B7-AA77532B9625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A2E077F-3922-93AA-9FBF-C6C2C74E218F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3C20BCC1-E5CD-4741-046E-C1583B783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6BF3A6D-647C-6C2F-A1B6-24ECFA3EA7A2}"/>
              </a:ext>
            </a:extLst>
          </p:cNvPr>
          <p:cNvSpPr txBox="1"/>
          <p:nvPr/>
        </p:nvSpPr>
        <p:spPr>
          <a:xfrm>
            <a:off x="8892639" y="5308878"/>
            <a:ext cx="2934879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Global Creative Intelligence Hub with AI-enriched indexing, brand performance tracking, and ROI analytics.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1316189B-88CD-7F93-B96C-C280A0231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61DCC17-4E7E-5438-1136-70B578D10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A96D04BE-93C2-99E7-12DC-0ABFE3834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330F85FC-5865-4514-A953-40CD61156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410A7C19-9F3E-EAD3-C301-FC7FD2F3C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0EF1C65-6531-8748-08A4-E28EA66FF4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834F52B-58F7-242C-9B76-A5E0AD807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9F2F836-7B2C-3859-BFA6-8B1B7884B5A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D907C5BE-8E95-E9A3-4C88-558DA1DF5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A9089EF-94E0-789B-915B-B2D43ECA081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1825AB5F-9A06-A42A-3192-ABAE4C7D153E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5C6A36-F80A-5AE5-B712-B0FB9EB464E2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sp>
        <p:nvSpPr>
          <p:cNvPr id="4" name="Arrow: Left 3">
            <a:hlinkClick r:id="rId14" action="ppaction://hlinksldjump"/>
            <a:extLst>
              <a:ext uri="{FF2B5EF4-FFF2-40B4-BE49-F238E27FC236}">
                <a16:creationId xmlns:a16="http://schemas.microsoft.com/office/drawing/2014/main" id="{A9CC8046-089D-1F6D-014A-F5D8081FF317}"/>
              </a:ext>
            </a:extLst>
          </p:cNvPr>
          <p:cNvSpPr/>
          <p:nvPr/>
        </p:nvSpPr>
        <p:spPr>
          <a:xfrm>
            <a:off x="11558952" y="541239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  <p:pic>
        <p:nvPicPr>
          <p:cNvPr id="29" name="Picture 20" descr="Flag - Free flags icons">
            <a:extLst>
              <a:ext uri="{FF2B5EF4-FFF2-40B4-BE49-F238E27FC236}">
                <a16:creationId xmlns:a16="http://schemas.microsoft.com/office/drawing/2014/main" id="{3ED0F16D-9FE3-ACCF-0EFC-F80112A8E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8155" y="7852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A1C1598-EA20-5660-E1B5-EBA97721B5D3}"/>
              </a:ext>
            </a:extLst>
          </p:cNvPr>
          <p:cNvSpPr txBox="1"/>
          <p:nvPr/>
        </p:nvSpPr>
        <p:spPr>
          <a:xfrm>
            <a:off x="10920155" y="80417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alibri" panose="020F0502020204030204"/>
              </a:rPr>
              <a:t>Future Disruptor</a:t>
            </a:r>
            <a:endParaRPr lang="en-GB" sz="1200" b="1" i="1">
              <a:solidFill>
                <a:srgbClr val="6DB657"/>
              </a:solidFill>
              <a:latin typeface="Calibri" panose="020F0502020204030204"/>
            </a:endParaRPr>
          </a:p>
        </p:txBody>
      </p:sp>
      <p:pic>
        <p:nvPicPr>
          <p:cNvPr id="31" name="Picture 4" descr="Disruption - Free technology icons">
            <a:extLst>
              <a:ext uri="{FF2B5EF4-FFF2-40B4-BE49-F238E27FC236}">
                <a16:creationId xmlns:a16="http://schemas.microsoft.com/office/drawing/2014/main" id="{55381627-D9A9-27C9-B212-B0CBA0E54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3169" y="24384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2778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C6410-5A0E-64AA-220E-A94955E8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C510-0A04-AB3A-493D-FC74AADA9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9 – S4 – Post-Race Media Optimizer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14FDF2-DA2B-3636-910F-9F42F176FE78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After each race, media teams manually sift through hundreds of images, videos, and audio clips to select content for social media, newsletters, or sponsor reports.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system exists to automatically cluster or rank assets based on quality, emotion, brand presence, or storytelling value.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Valuable race-day moments often go unused or under-leveraged due to time constraints and manual fatigue.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GenAI-powered Post-Race Media Optimizer that helps automate selection, prioritization, &amp; tagging of media assets based on race relevance &amp; storytelling impact: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Automatically clusters media into themes (e.g., podium, fan reactions, guest suite, driver moments).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Uses AI to score each asset based on sponsor presence, emotional expression, lighting, and contextual importance.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Ranks visuals and quotes for use in social media, press releases, and race summaries.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Suggests best-match captions and PR summaries using GenAI-driven synthesis.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Integrates with SharePoint/Imagen for direct tagging and publishing handover.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Computer vision and emotion recognition algorithms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 and caption extraction for speaker/sentiment insight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GenAI engine to create draft captions, alt text, and summaries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recognition and visibility scoring module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Integration-ready APIs with DAM platforms and PR systems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59A639D-77C2-919F-C69B-E08AEC0DF12B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A31A92-483B-330F-03B4-DA5DFB89FAA3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88525-A384-F1C6-721A-D09A0A9DF67B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media curation time by over 50% post-race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high-impact visuals and moments are not overlooked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storytelling quality and brand alignment in external comms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Delivers smarter content faster to social, PR, and sponsor stakeholders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4A48DD-97BB-1634-C12A-7C8D660D4C0B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Stronger, faster, and more strategic race-day content delivery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Better utilization of the media library with higher ROI per asset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 teams can respond quicker with validated, high-quality visuals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Consistent alignment with partner exposure expectations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619E37-BDE7-40DF-C8DC-71DDA18EE53D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4A68EFA-F398-2096-CEBD-AEB39D9408DD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A937734-7B2F-CB5B-5EC6-7D9D847B0C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2D3D6D-DEA3-6845-6624-A381EC8736A0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FE104EF-57D6-4070-8EA0-D7EF06567B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ED1C23-4974-3CF3-EC7C-0A10D3A7D406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37292BC-FF87-C584-60B1-CD5AE868A89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2E153F3-9E81-B691-DEA4-A34B2ACA32E3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13DCBFE-26E7-D1D4-1801-3603E20715A8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(GenAI Developer, Media Workflow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2CA04CFD-663A-5061-5AD4-6C18C3CDBFE3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F5652B0-5186-ED2E-A349-A2E6066B100E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7337A92-9EC5-DC4E-8A22-3BA5865F47DE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118F4995-01EB-0AC7-0853-34E41506F6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6F9DACE-1362-3F54-3628-361B17ADF0D9}"/>
              </a:ext>
            </a:extLst>
          </p:cNvPr>
          <p:cNvSpPr txBox="1"/>
          <p:nvPr/>
        </p:nvSpPr>
        <p:spPr>
          <a:xfrm>
            <a:off x="8892640" y="5308877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Race Media Intelligence Layer, combining asset usage analytics, sponsor exposure insights, and content performance benchmarking across multiple race weekends.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CF3DAD0-FCE1-E4C3-5B67-4BB443B04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50057B52-8FF3-EE8F-D07E-449B5D8E7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40ADD879-F895-5F8D-C731-8700CA5F1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A7B7F25E-8508-50DB-F144-8CAB2A3B9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F94B1BC8-EEF9-A039-CBFD-B69702391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B54102D-E144-0674-9C63-68607EEE76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BD48C819-5A27-D8B4-3854-F2613AC08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D03AD3-ADA7-88AE-16A4-D1189E17A3D8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9B6394D-6299-A708-47F3-B9A0AC1FE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DF4209C-D6BC-9300-E2B3-7247A59BFD8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4D4116EF-E8B1-C043-E5E6-0EE232F3F64C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4DC05A-77EE-7417-A705-0547BA3E6184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sp>
        <p:nvSpPr>
          <p:cNvPr id="23" name="Arrow: Left 22">
            <a:hlinkClick r:id="rId14" action="ppaction://hlinksldjump"/>
            <a:extLst>
              <a:ext uri="{FF2B5EF4-FFF2-40B4-BE49-F238E27FC236}">
                <a16:creationId xmlns:a16="http://schemas.microsoft.com/office/drawing/2014/main" id="{B8A20896-452C-4E9A-8DF3-4D0CCB88341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  <p:pic>
        <p:nvPicPr>
          <p:cNvPr id="25" name="Picture 20" descr="Flag - Free flags icons">
            <a:extLst>
              <a:ext uri="{FF2B5EF4-FFF2-40B4-BE49-F238E27FC236}">
                <a16:creationId xmlns:a16="http://schemas.microsoft.com/office/drawing/2014/main" id="{2E7AAD71-C846-7A7B-18E4-18491582E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593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2EC0DC7-1DCA-CAB9-98B2-1C4E7E784A3F}"/>
              </a:ext>
            </a:extLst>
          </p:cNvPr>
          <p:cNvSpPr txBox="1"/>
          <p:nvPr/>
        </p:nvSpPr>
        <p:spPr>
          <a:xfrm>
            <a:off x="9889707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32" name="Picture 2" descr="Rocket - Free transport icons">
            <a:extLst>
              <a:ext uri="{FF2B5EF4-FFF2-40B4-BE49-F238E27FC236}">
                <a16:creationId xmlns:a16="http://schemas.microsoft.com/office/drawing/2014/main" id="{8F9BE382-6A1B-46F1-9B0C-A634C6BB8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309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03304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D675F-30FE-9AF7-F680-8E799196A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52D16-D1BF-7FC0-8B50-A352FFB56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10 – S1 – Guest Journey &amp; Activation Orchestrator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E4FAB2-094F-046E-479A-C608E4D536C6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Guest movements across suites, garages, paddocks, and experiences are manually coordinated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consolidated view exists per guest of what they are supposed to attend and when.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On-ground hosts rely on WhatsApp and Excel to manage check-ins, flow, and real-time redirection.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visibility on whether guest activations (garage walk, driver meet, gifting) are completed or missed.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digital console to map and manage every guest’s planned experience on race day: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pre-configuring of time-bound guest activations (e.g., Emotion Club lunch, garage tour, trackside moment).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Syncs with run sheet/schedule and team availability.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Host view shows real-time location and status of each guest.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Flags missed activations or time clashes.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activation check-off or comment capture post each interaction.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Can be linked with gifting and protocol compliance..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Guest Experience Workflow Builder (PowerApps, custom web layer)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Time Slot &amp; Flow Tracker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with S8.2 – Run Sheet Tool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Access Layer for hosts/crew on ground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C21285C-78F6-E5AC-F2C9-284DAAF1C1AB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7F507B2-3455-08C9-25BC-A73F06B54F78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E05093-074B-97C9-39D6-B6CEB5832C8F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Brings structure to previously informal guest handling.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each VIP receives their entitled experience without misses.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consistency in brand experience across race weekends.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75AC9-6F9D-9618-5BEE-5EF8F85FA93A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More professional and predictable race-day journey for partners and guests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Hosts have clarity on sequencing and handling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data capture for who attended what, and where friction occurred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602C3B7-B681-F522-7F0B-D556186BF435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79EE10E-9CE2-B684-9A76-6E27528E72F8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382E1F3-A69D-4A43-7B44-EBB259B1C9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4C17A1-9107-9FBB-4B56-47A4F08ED73B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436B40E0-DAA5-BF00-D3F4-C6E11FBE8F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13BF0A-EDFA-47CC-2B4E-41A43C40AC0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9C30259-D121-75B2-2E7E-593337A1499E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D1E903A-834B-073A-0708-22DEE415F09E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5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6CB105-09C1-313C-2F1B-97978226E5D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(Workflow Developer, Data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09AC25F-B4DB-DE32-2BDB-9A8B2755D903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6A75A66-BBD1-456E-1A50-4B75A8FBA9C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FDF0A90-4001-7F47-B56A-28C6D35F200E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26C38B16-1A7C-694C-6708-4EC6E44FC2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0087B59-5F3E-AD6C-3B7F-B6464130E70F}"/>
              </a:ext>
            </a:extLst>
          </p:cNvPr>
          <p:cNvSpPr txBox="1"/>
          <p:nvPr/>
        </p:nvSpPr>
        <p:spPr>
          <a:xfrm>
            <a:off x="8892640" y="5308878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VIP Journey Automation Layer, including feedback capture, content personalization, and NPS tracking.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C1D57362-CA5C-543E-7BCB-53C4EE171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13F7EF5A-9986-07BC-AADE-7B8266151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64DAD9D5-4992-AA06-E075-16B0A057F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DCE24A3A-60B8-066A-D402-92A03B585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9761A954-8B4C-7432-5179-5A3AED77D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28E88F05-FDDF-3E0C-9BBD-494057688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753E5AA0-D911-05FD-668D-69B31C9DC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9BF62A6-1D98-A028-5578-831D56FAD4BD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F1EDEEE8-B243-73B2-C560-5D4093F94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29D6831-DE0F-FABC-9A1B-656CD6402E22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ABCAC133-A9BF-D7D4-746A-92A9BA44A00E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22" name="Picture 20" descr="Flag - Free flags icons">
            <a:extLst>
              <a:ext uri="{FF2B5EF4-FFF2-40B4-BE49-F238E27FC236}">
                <a16:creationId xmlns:a16="http://schemas.microsoft.com/office/drawing/2014/main" id="{FE302065-0929-33D2-AF46-46A551212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7593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33A4E93-089E-DE1C-63B6-C49B4DAC4D76}"/>
              </a:ext>
            </a:extLst>
          </p:cNvPr>
          <p:cNvSpPr txBox="1"/>
          <p:nvPr/>
        </p:nvSpPr>
        <p:spPr>
          <a:xfrm>
            <a:off x="9889707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5" name="Picture 2" descr="Rocket - Free transport icons">
            <a:extLst>
              <a:ext uri="{FF2B5EF4-FFF2-40B4-BE49-F238E27FC236}">
                <a16:creationId xmlns:a16="http://schemas.microsoft.com/office/drawing/2014/main" id="{AB7AD292-D1B6-01C8-DE54-3D1E9397B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309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BFA1103-8BC3-43BD-0E69-B807EB35CCA3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33C22E32-B169-35D8-60E4-19635B551000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9838491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248E6-E48E-1AC3-B83B-F20BA1C5E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2F325-75E1-8EAE-83C4-E16DB190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10 – S2 – Centralized Ticketing &amp; Allocation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6923EB-70A0-AF8E-EC66-22A737A0A45C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Ticket buying is managed centrally by JLR but tracked manually via spreadsheets.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live dashboard exists to see how many tickets are assigned vs. unutilized vs. pending.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Fragmented across categories (Emotion Club, Hospitality, Grandstand) and across brands (TCS, Castrol, etc.).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Last-minute reallocation is chaotic and dependent on informal communication.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Centralized Ticketing &amp; Allocation Console that offers race-level and partner-level visibility of ticket inventory, allocations, and usage: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Tracks tickets bought by JLR across sponsors and categories.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Supports drag-and-drop allocation across TCS, Castrol, etc. with clear status (Assigned, Confirmed, Pending).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Flags underutilized or unclaimed ticket blocks ahead of race day.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Offers downloadable passbook or QR-based digital passes for guest circulation.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Links with FIA scan data to provide attendance heatmap post-event.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Ticket Allocation Database and Sponsor Mapping Layer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Drag-and-Drop Admin Dashboard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API Integration with FIA scan logs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Optional link to JLR guest comms for digital pass sharing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1C2DEEC-AF3D-AABA-BA7B-FC488E5FB773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C57F0E-20A7-36EA-7BEA-5F9482EE0D8E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383AE-6665-04AD-12D4-4DCBB378CBF5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ticket wastage across partners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transparency in sponsor utilization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mid-week optimization before each race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operational scramble and partner dissatisfaction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C99CD5-BC87-FCDF-4610-709E82933E10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Live visibility across hospitality categories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Flexible reallocations based on guest or partner priority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Alignment of partner deliverables to ticketed presence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Less manual dependency on Excel and WhatsApp chains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176798B-D585-102E-90A2-A75B407AA1B5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3C1C0D0-2A3C-3A96-2B94-E1E693A24E0C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BECFF2F7-1517-470E-619D-92EAB0DC3C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34620A-09AD-98EB-A177-CB6D3A478B33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9B50CC8-0534-AF79-35F9-CBE08586D4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8052E11-BD9B-2E5E-B641-E1A74BA22A69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0EED0D8-0128-EAB2-7B09-9AABCDDB3350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0934142-C7F0-35B6-9640-DD18EAF4E58A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05AC4FF-025E-CA64-40DD-FFB1A205646E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(Frontend Dev, Data Ops Specialist)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7C5143E8-D811-C210-9838-F49E48103180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EBDBEF6-E628-4065-F168-1DE2CBCED2EA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439D7A8-9643-E771-2460-45009EE3EBE9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AC1B20C2-0C2D-7EA9-C079-76153B67B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08A33A3-05CA-7583-264D-95566468B7E9}"/>
              </a:ext>
            </a:extLst>
          </p:cNvPr>
          <p:cNvSpPr txBox="1"/>
          <p:nvPr/>
        </p:nvSpPr>
        <p:spPr>
          <a:xfrm>
            <a:off x="8892640" y="5308878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Sponsor Ticket Allocation Engine integrating deliverables, partner entitlements, and race activation planning.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D224151A-15D7-806F-391A-A87922B67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0F0B325F-75C9-BC87-D597-F9188A24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B4682986-7ADF-9579-5276-59C9097AD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23F7EDDF-400F-C893-A999-5C67BE666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0EDABC1E-DC8A-D023-F0D9-DD5C8B7CE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32618DD-665A-1C0C-7D59-486490DF8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68DAB4D2-B3F0-8132-2A4A-13CD6AACB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AD284D8-33AC-DDEA-1C98-9B0020B2526C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E2740B22-8E06-F0F4-76D4-0916C80C79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3887B21-0B70-31AE-B1E5-981EA70E0A3C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B4224CC-0D97-35CE-B1A6-D78BD16F0BCD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B0EEE0-F84E-DB70-8E6A-07865832020A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CA5B3304-3591-E6B0-3CDA-4D6DCA50E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559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AA00476-31E8-C078-80EA-C55776C4CBD3}"/>
              </a:ext>
            </a:extLst>
          </p:cNvPr>
          <p:cNvSpPr txBox="1"/>
          <p:nvPr/>
        </p:nvSpPr>
        <p:spPr>
          <a:xfrm>
            <a:off x="10385559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9" name="Picture 28" descr="Lightning bolt - Free technology icons">
            <a:extLst>
              <a:ext uri="{FF2B5EF4-FFF2-40B4-BE49-F238E27FC236}">
                <a16:creationId xmlns:a16="http://schemas.microsoft.com/office/drawing/2014/main" id="{B0A4B166-50EF-88CD-4AFA-E291679FE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560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Arrow: Left 21">
            <a:hlinkClick r:id="rId16" action="ppaction://hlinksldjump"/>
            <a:extLst>
              <a:ext uri="{FF2B5EF4-FFF2-40B4-BE49-F238E27FC236}">
                <a16:creationId xmlns:a16="http://schemas.microsoft.com/office/drawing/2014/main" id="{3BE23A40-DC3C-EB72-EE21-90FAF633B9EA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6555494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A0C83-D325-0899-8143-CA322843A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3BAD7-5CA7-075F-32BF-0C2C8BE48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10 – S3 – Activation &amp; Inventory Execution Hub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E8A2EE-76B5-9A0A-57B9-709DD3397081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12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56032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Execution of planned guest activations (e.g., meet-and-greet, gifting, suite walkthroughs) is coordinated manually across hosts.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real-time visibility into which guest received what (e.g., kits, badges, food tokens).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Logistics of last-minute activation changes or unavailable staff are handled over calls or WhatsApp.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Gifting inventory tracking is offline, leading to overstock or missed </a:t>
                      </a:r>
                      <a:r>
                        <a:rPr lang="en-GB" sz="1200" kern="1200" err="1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fulfillment</a:t>
                      </a: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lightweight mobile-enabled console to manage guest experiences and on-ground resource flows.: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Tracks status of each planned guest activation (e.g., garage access, host pickup, sponsor moment)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Real-time check-in/check-out confirmation for each task or interaction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Hosts can log completion, capture quick notes or exceptions (e.g., guest unavailable)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Parallel gifting inventory dashboard tracks </a:t>
                      </a:r>
                      <a:r>
                        <a:rPr lang="en-GB" sz="1200" b="0" err="1">
                          <a:latin typeface="+mj-lt"/>
                        </a:rPr>
                        <a:t>fulfillment</a:t>
                      </a:r>
                      <a:r>
                        <a:rPr lang="en-GB" sz="1200" b="0">
                          <a:latin typeface="+mj-lt"/>
                        </a:rPr>
                        <a:t> per guest or batch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Flags pending or missed activations before race concludes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Mobile Task Tracker for on-ground staff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Inventory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Fulfillment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Log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Host Role-Based Access View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Sync with Guest Journey Scheduler (S10.1)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06519E6-51F1-D173-AEED-DE8EC635D968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22CA229-5E59-3648-4AAD-7918C046EA04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659EFC-34DF-8315-4CDE-68EC1555E31D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Brings operational discipline to on-ground guest handling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Prevents missed activations or double allocations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accuracy in gift kit planning and execution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proactive escalation if planned moments are at risk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442B99-6151-E4A3-1D71-5EA5C49B3913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Smoother guest journey flow without logistical drop-offs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Reduced confusion for hospitality and brand teams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Data-driven inventory reconciliation post-race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improved vendor coordination and accountability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3952DCD-5988-B865-C96F-B31112A305C3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385FEDA-37E4-4A16-23FC-9803B907CFB4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26DD1E1-A262-4FA5-1DCE-E3B6929C21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AF7EA1-BFCD-828E-BFF8-5B51F332E177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807772B-330F-94F7-6076-C6B677453B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DECC147-E125-CF7C-E033-E3E3C2BB0E13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54BA421-0808-27D2-67CD-E6C9D1B44005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51E4832-0873-BDA7-C763-9B797B1C0EEC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9191530-C414-EC46-C906-588FB00DC8C0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(Frontend Dev, Data Ops Specialist)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49C15D33-B9D1-BE89-F48E-CACD4C430BD9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3B3B71-19DB-E15D-F4A1-EA9881DA8297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20E69FF-C742-E225-68EC-7825DF5F79AB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9D791756-0F0B-51B5-232E-4A0010E84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4F00AF7-BD9A-FECD-CCA2-93923D7400DE}"/>
              </a:ext>
            </a:extLst>
          </p:cNvPr>
          <p:cNvSpPr txBox="1"/>
          <p:nvPr/>
        </p:nvSpPr>
        <p:spPr>
          <a:xfrm>
            <a:off x="8892640" y="5308878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Multi-Event Activation Management System, used across global races or extended to partner-led events.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CC7AA7A4-252D-06A2-F60E-BBA4C73F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D99A49A-60FF-80E3-D0DD-E87869E9E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BC786F4A-7F69-42B6-5288-F9358AF5E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87B7CC03-098C-1482-391F-F6702FAEB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B2427ACA-DA54-40C7-13DC-48DDE78D4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7A8882D0-07E9-1848-2F9D-40FAE006BF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BFD0014-940C-CC9C-FDFB-BBDAE342F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E55A8F6-979D-65D9-51A4-31A19FF01492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84C07522-E1FE-BAC0-9AAF-1D676F906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48CC084-F952-79D9-95E1-F670088DCF44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6B7B0562-15F2-255C-0408-6D9A47B6D8FA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719EF5-71FC-F45F-F87B-9C75D75CCF18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6FB0EB16-2E3C-315C-9491-ADE3FF9C3E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7767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817D758-3BD3-3214-1409-8A914BF06ECC}"/>
              </a:ext>
            </a:extLst>
          </p:cNvPr>
          <p:cNvSpPr txBox="1"/>
          <p:nvPr/>
        </p:nvSpPr>
        <p:spPr>
          <a:xfrm>
            <a:off x="10459767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9" name="Picture 28" descr="Lightning bolt - Free technology icons">
            <a:extLst>
              <a:ext uri="{FF2B5EF4-FFF2-40B4-BE49-F238E27FC236}">
                <a16:creationId xmlns:a16="http://schemas.microsoft.com/office/drawing/2014/main" id="{65607717-20FA-8D5E-0956-207E4969E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9768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Arrow: Left 21">
            <a:hlinkClick r:id="rId16" action="ppaction://hlinksldjump"/>
            <a:extLst>
              <a:ext uri="{FF2B5EF4-FFF2-40B4-BE49-F238E27FC236}">
                <a16:creationId xmlns:a16="http://schemas.microsoft.com/office/drawing/2014/main" id="{7C77CB15-8B17-8563-69E2-7FC2ED0E0104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45733992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1B61-682D-A736-EA7B-A161339C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82B6-B3BD-4F91-44A1-2D5963605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10 – S4 – Feedback Capture &amp; Engagement Insight Engine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757C74F-E66E-9197-36B7-E243C88BD305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Guest feedback is not consistently collected across all races.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Manual efforts to gather post-event insights result in poor response rates and limited depth.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structured mechanism exists to link feedback with the specific guest journey, touchpoints, or race-day experience.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Valuable input is lost that could inform future hospitality strategy or sponsor engagement design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GenAI-enabled module that collects, </a:t>
                      </a:r>
                      <a:r>
                        <a:rPr lang="en-GB" sz="1200" b="0" err="1">
                          <a:latin typeface="+mj-lt"/>
                        </a:rPr>
                        <a:t>analyzes</a:t>
                      </a:r>
                      <a:r>
                        <a:rPr lang="en-GB" sz="1200" b="0">
                          <a:latin typeface="+mj-lt"/>
                        </a:rPr>
                        <a:t>, and contextualizes guest sentiments post-race: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Deploys QR codes, mobile forms, and timed follow-up messages to gather feedback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Uses AI to </a:t>
                      </a:r>
                      <a:r>
                        <a:rPr lang="en-GB" sz="1200" b="0" err="1">
                          <a:latin typeface="+mj-lt"/>
                        </a:rPr>
                        <a:t>analyze</a:t>
                      </a:r>
                      <a:r>
                        <a:rPr lang="en-GB" sz="1200" b="0">
                          <a:latin typeface="+mj-lt"/>
                        </a:rPr>
                        <a:t> sentiment and identify themes (e.g., suite experience, host interactions, event timing)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Cross-links feedback with guest profiles, ticket categories, and journey logs (from S10.1/S10.3)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Generates sponsor-level insights for hospitality performance and partner-specific moments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Dashboard to monitor NPS, satisfaction scores, and key experience gaps over time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Lightweight Survey Engine (Forms,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Typeform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, or custom mobile micro-app)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Sentiment Analytics Layer (GenAI/NLP engine)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Feedback-to-Journey Mapping Engine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Sponsor Insight Reporting Plugin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208428-20DD-CF99-93A4-26A07E9CAE5D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C0C064-E59D-79A1-4CB4-20861E623A50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2F2D29-3213-3267-8B32-CD7FC1B5D835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Increases feedback capture without high manual overhead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structured insights to refine future guest experiences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Supports continuous improvement in event delivery and partner ROI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Strengthens brand perception through data-driven refinement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1E4F85-7C45-C70D-8B37-D1DA1500F199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Timely, contextual insights tied to real guest journeys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More actionable than generic post-event surveys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Aligns guest sentiment with operational performance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Can be reused across all hospitality-led touchpoints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1FBA13E-5A7D-AA33-BE89-11EFE7893348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1FC713A-959B-DD00-B06E-A3E27311F777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795634A-7B65-6923-0149-360BCDFA43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36E99D1-1948-CD9F-3457-63863BE4B964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4A56215-E03A-BA5A-5AC3-7FF9FD5F2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495EC9-179A-0FD5-D210-E71AA5536AB7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44B8DF12-E162-63C1-A0F3-64D776EEA65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297E81-D174-CFF4-4D19-723D9F1CA2FF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6 - 8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913B84-5C8B-1D68-0C24-6B83FAF43342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FTEs (GenAI Dev, Data Analyst, Mobile App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B87B90EE-8C45-C7D0-7CF8-D0386C72F2F0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077205D-A9EF-628C-25A3-5E33C892DBD7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4208A62-1A75-59DC-312C-14837A4F062D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9F424830-8D55-7AB2-F783-467D73170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852D3B0-0E26-3C2E-132B-AF0815069A9D}"/>
              </a:ext>
            </a:extLst>
          </p:cNvPr>
          <p:cNvSpPr txBox="1"/>
          <p:nvPr/>
        </p:nvSpPr>
        <p:spPr>
          <a:xfrm>
            <a:off x="8892640" y="5308878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Cross-Event Guest Experience Index, benchmarking races, tracking guest lifecycle sentiment, and feeding into sponsorship value reporting.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BE5D2A53-E44E-A764-B856-B4F18A762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5437B14-A2E4-1E70-3AED-A86EF802E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16D08FC5-6BFF-F762-CAD1-49E9E174E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FAD1A6FB-4CE8-72A1-70BE-076B11B95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835B5865-599A-D196-6CD9-9CCC935F03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8129DD52-AEFF-FA04-F50B-B8443B761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AA86A385-7BBB-9EA5-C2E0-85DCAB6217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A0817CC-EE0D-8DE2-375E-CD1495A80539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FA28968F-4F10-BDD2-82F1-E1B901A92F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D509875-41DE-8279-2D6F-BA565EDAEE5A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3634BD7-C5F5-91A0-99A3-F76886ED3627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A31FCDC1-A5DB-457F-827A-2E40DBBE2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8367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387800-2395-E5E1-153E-1E251DB9B2F7}"/>
              </a:ext>
            </a:extLst>
          </p:cNvPr>
          <p:cNvSpPr txBox="1"/>
          <p:nvPr/>
        </p:nvSpPr>
        <p:spPr>
          <a:xfrm>
            <a:off x="10470367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9" name="Picture 28" descr="Lightning bolt - Free technology icons">
            <a:extLst>
              <a:ext uri="{FF2B5EF4-FFF2-40B4-BE49-F238E27FC236}">
                <a16:creationId xmlns:a16="http://schemas.microsoft.com/office/drawing/2014/main" id="{5AF611F9-1119-22C7-64B7-31AB6FE2B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0368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AA398FE-179C-F460-CF15-F081435B2639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sp>
        <p:nvSpPr>
          <p:cNvPr id="23" name="Arrow: Left 22">
            <a:hlinkClick r:id="rId16" action="ppaction://hlinksldjump"/>
            <a:extLst>
              <a:ext uri="{FF2B5EF4-FFF2-40B4-BE49-F238E27FC236}">
                <a16:creationId xmlns:a16="http://schemas.microsoft.com/office/drawing/2014/main" id="{34E4FC50-B220-E9EE-1C61-EE196C0EF5FB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4146818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9DC45-5E7E-5D68-2D37-C2FA37F6B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E9925-48C3-911C-3B47-4CE11498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11 – S1 – Merchandise &amp; Campaign Planner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330117E-9049-EC57-9C5D-FC201D4E5094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Merchandise ordering is manual and race-wise decisions are reactive.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Campaign themes often misalign with merch drops, missing fan demand peaks.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MOQ constraints lead to overstocking or missed replenishment opportunities.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structured planning layer exists linking race calendar, brand themes, and SKU planning.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centralized campaign and merchandise planning console to: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Align merchandise designs and ordering with the Formula E calendar, team campaigns, and sponsor activations.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 SKU-level planning with seasonality, sizing, and MOQ-based demand estimates per race.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Integrate inputs from Creative, Partnerships, and PR to align designs with branding themes.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 preview of planned campaigns alongside merch pipeline to reduce missed monetization windows.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Optional integration with Activation &amp; Inventory Execution Hub (S10.3) for supply alignment.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Race-Mapped Campaign Timeline: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Visual planner aligning creative, merch, and race events.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SKU Planning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MOQ triggers, product segmentation, and replenishment logic.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Creative Sync API: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Hooks to design briefs, approvals, and campaign launch dates.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Forecasting Overlay (Optional):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Add-in module for predictive sales or reorder simulation.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1467DA-C3AF-13B9-777F-F87853415E15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339EAC-09BB-EA31-5E4A-EE816FDB2472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83BECB-3693-EF34-C819-2AB21C94816A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ad-hoc merch drops, aligning product availability with peak demand moments.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Increases campaign effectiveness by bundling merch, content, and promotions.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Minimizes overordering and surprise stockouts through MOQ-based forecasting.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9CD83-99DE-A476-7588-953A15B613A7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revenue through timely, theme-aligned merchandise launches.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collaboration across Creative, Ops, and Commerce teams.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risk of dead stock and lost promotional opportunities.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07523F0-3711-930F-CE5C-A65E8DBB3BBC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E5602478-988E-7A07-A864-202584126583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52CE960-7752-782C-F89B-A8D5FCA287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DFC666-6E3D-3D0E-0E4D-C03C1D273CD6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DC6494B-65B5-3F66-1C8E-7218C88AAA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D4CEA6E-D2A7-CF5C-141D-E1D0812B5696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4446184-E049-D8E2-736A-20AC8EE25D4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E67C176-AECD-3E75-614B-9CC4E030AC9C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4 - 6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93E7B1-8B07-596B-07A7-997EDF61AC4A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(Business Analyst, Workflow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F6AEAAD-0ADE-6790-FF5D-AE27C48EB816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06A4F4-6D43-88D0-4D7F-7B5258EA9A75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DEC9DEB-0694-7A55-AEDD-A5BADE5858FE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170EF019-5D16-C454-B06D-B589BB2AD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4200443-BB53-CF6C-7CCA-2538327824D2}"/>
              </a:ext>
            </a:extLst>
          </p:cNvPr>
          <p:cNvSpPr txBox="1"/>
          <p:nvPr/>
        </p:nvSpPr>
        <p:spPr>
          <a:xfrm>
            <a:off x="8892640" y="5308878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full Merchandise Campaign Orchestration Platform across other JLR teams and partner events.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3A32EB55-264D-6A25-B5F4-864DC661B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90A70CD0-B35D-4E16-C7B3-5BF09E000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CDB5F2FB-3292-B7E7-D41B-07551CFE7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0B692131-6088-212B-1BE7-560E06CA7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D5836F7B-FD2E-B02B-0A2B-F746DCD2B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0CA4D131-CD5F-4920-7444-205A26A8C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C8668B59-AAD0-6C92-77BF-C5745FB69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7744A64-6C3B-7CC6-F577-FC37A6BFD6CA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0D413F67-390B-5822-0CB4-2740A5E27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F0B2B14-7901-BDE2-7518-9472272948E4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323F6BA9-CC44-B62A-AB71-CB052CF8D1FA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Arrow: Left 3">
            <a:hlinkClick r:id="rId14" action="ppaction://hlinksldjump"/>
            <a:extLst>
              <a:ext uri="{FF2B5EF4-FFF2-40B4-BE49-F238E27FC236}">
                <a16:creationId xmlns:a16="http://schemas.microsoft.com/office/drawing/2014/main" id="{6F2B626D-92DE-0568-BEE2-D39ED2759758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A61D3624-9271-FC4C-FB9B-2943C32F1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9672" y="50961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FC13690-A792-7270-01BE-86DFE604FFA3}"/>
              </a:ext>
            </a:extLst>
          </p:cNvPr>
          <p:cNvSpPr txBox="1"/>
          <p:nvPr/>
        </p:nvSpPr>
        <p:spPr>
          <a:xfrm>
            <a:off x="10431673" y="52851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31" name="Picture 30" descr="Lightning bolt - Free technology icons">
            <a:extLst>
              <a:ext uri="{FF2B5EF4-FFF2-40B4-BE49-F238E27FC236}">
                <a16:creationId xmlns:a16="http://schemas.microsoft.com/office/drawing/2014/main" id="{513CE9D6-8710-81BE-FEF0-B190F162B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673" y="267249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E455FE9-C8BA-A905-E367-E54D65247BFD}"/>
              </a:ext>
            </a:extLst>
          </p:cNvPr>
          <p:cNvSpPr txBox="1"/>
          <p:nvPr/>
        </p:nvSpPr>
        <p:spPr>
          <a:xfrm>
            <a:off x="8903240" y="6215397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Commercialized Solution</a:t>
            </a:r>
          </a:p>
        </p:txBody>
      </p:sp>
    </p:spTree>
    <p:extLst>
      <p:ext uri="{BB962C8B-B14F-4D97-AF65-F5344CB8AC3E}">
        <p14:creationId xmlns:p14="http://schemas.microsoft.com/office/powerpoint/2010/main" val="22112030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62DD5-7C3E-9A9F-A8A7-9EBED65B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883C9-3088-F43D-8FF1-C23B4EDFF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11 – S2 – Inventory Visibility &amp; Movement Tracker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15E6018-5739-A84B-012E-6A3B48D9D1A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31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Stock levels are tracked manually via Excel across Unipart, race sites, and internal teams.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Customs delays, misplaced inventory, and lack of real-time visibility lead to missed handovers or over-ordering.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integrated dashboard exists to monitor movement of merchandise kits, race-day inventory, or restock status.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live inventory and movement tracking dashboard to: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Consolidate inbound/outbound stock status across Unipart, internal stores, and race logistics teams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Track merchandise flow by item, location, event, and ownership team.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 barcode/QR code-based scanning to mark receipt, returns, and field consumption.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Provide exception alerts (e.g., delayed shipments, low MOQ thresholds) to operations and marketing teams.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 b="0" kern="1200">
                          <a:solidFill>
                            <a:srgbClr val="000000"/>
                          </a:solidFill>
                          <a:latin typeface="+mj-lt"/>
                          <a:cs typeface="Calibri"/>
                        </a:rPr>
                        <a:t>Links with Activation &amp; Inventory Execution Hub (S10.3) and Guest Kit Allocation (S10.1) for real-time alignment.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Inventory Sync API Layer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feed from Unipart and race-day logistics partners.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QR/Barcode Tracker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For on-ground staff to scan and update item movement.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Race-Wise Inventory Dashboard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Filters by SKU, location, ownership (TCS, Google Cloud, etc.).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Alert Engine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Sends early warnings for missing stock, customs delays, or low coverage.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17A460-F117-CC06-7E56-5E4B778E5BCF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B59019-BA36-036C-55B2-CDF906E6EC1D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F256CB-8603-BAC2-F11D-35E230E9657D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live visibility of inventory flow across partners, events, and race locations.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overordering or inventory loss due to poor traceability.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Prevents last-minute surprises by flagging gaps well in advance..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38C96-BC2E-ABD5-3EC8-FA152D636E92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operational control during high-pressure race windows.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Ensures timely kit handover and brand presence consistency.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Allows better inventory and logistics coordination across global races.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40F16BA-0BCB-AE9D-3FE2-8D851322AC66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1941EC6-54A7-7CA5-723B-B6D268233233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5BD60CA-BAAD-D1EA-4885-ACDBBEF3B4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F380623-783E-2AA1-616C-7255D11B223C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2C94097C-D0DF-FF48-4DCD-84AB9786FC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5CE1827-178A-084A-93EE-9CF3C40AECD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550B4A6-0958-BEEB-B946-32B65E5FAF92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399045-CEA8-0823-516F-DED526C7E1DA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B693433-D762-C304-EA34-5241AA57F69B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(Integration Developer, Workflow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07DAC3A-C300-C2A5-0653-3B39B1315038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0C86C9D-74A3-DB0D-2C57-EB65EF9679DB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19A1C7D-B948-39F0-995A-720178393B2D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A3AF56FC-DF7A-DC24-4036-69E52526F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F89B6A5-2346-335A-4ABE-9CB7FA9789FD}"/>
              </a:ext>
            </a:extLst>
          </p:cNvPr>
          <p:cNvSpPr txBox="1"/>
          <p:nvPr/>
        </p:nvSpPr>
        <p:spPr>
          <a:xfrm>
            <a:off x="8892640" y="5308878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be evolved into a Global Stock Intelligence Layer, spanning marketing merchandise, garage kits, and campaign activations across the JLR group.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BD6C5C21-3F29-4D5E-E306-14B418161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B3BB6F6E-E5E1-E207-BAD8-C8EE55513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6CBFA437-F7CF-ABC1-2240-33857F99B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5AF3C775-DEC9-5875-CA54-2E526315A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9538B549-9552-4652-657D-AC86C7FDA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53524A40-07BB-97C6-1B37-3E4FCA2DE1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F8E95B32-93E2-7FB5-C79B-88038766B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259555F-1ABF-F1AA-D158-2789DB030D94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C35E2D83-55A3-C4B0-339E-2A15D73D7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2A45271-F798-C4AE-9F0E-E5D8F751A767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C46BAEE7-4B7B-03A9-30A7-D82460CCF26A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3B2BE3B0-93FB-6810-2107-130AC904DD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9944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18F7FF-5CE8-136F-24A0-B369EDE3553D}"/>
              </a:ext>
            </a:extLst>
          </p:cNvPr>
          <p:cNvSpPr txBox="1"/>
          <p:nvPr/>
        </p:nvSpPr>
        <p:spPr>
          <a:xfrm>
            <a:off x="10321945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29" name="Picture 28" descr="Lightning bolt - Free technology icons">
            <a:extLst>
              <a:ext uri="{FF2B5EF4-FFF2-40B4-BE49-F238E27FC236}">
                <a16:creationId xmlns:a16="http://schemas.microsoft.com/office/drawing/2014/main" id="{C965320A-05FE-32FC-773C-FC7B93DFF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945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0F41498-D0F6-80D8-AD57-65F51300EF14}"/>
              </a:ext>
            </a:extLst>
          </p:cNvPr>
          <p:cNvSpPr txBox="1"/>
          <p:nvPr/>
        </p:nvSpPr>
        <p:spPr>
          <a:xfrm>
            <a:off x="8903240" y="6215397"/>
            <a:ext cx="2433552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Commercialized Solution</a:t>
            </a:r>
          </a:p>
        </p:txBody>
      </p:sp>
      <p:sp>
        <p:nvSpPr>
          <p:cNvPr id="22" name="Arrow: Left 21">
            <a:hlinkClick r:id="rId16" action="ppaction://hlinksldjump"/>
            <a:extLst>
              <a:ext uri="{FF2B5EF4-FFF2-40B4-BE49-F238E27FC236}">
                <a16:creationId xmlns:a16="http://schemas.microsoft.com/office/drawing/2014/main" id="{99CE7330-141B-7D4B-B70F-FC03CFA44EA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4211588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E86D5-2FE1-3686-F85E-75EFFF77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85807-875B-FA0C-A353-961ADFC16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11 – S3 – Unified Sales &amp; Analytics Hub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32802A7-22A2-423E-6130-80F87F8319AC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Sales data from Unipart (e-commerce) and race-day pop-ups are not integrated or real-time.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consolidated dashboard to view SKU performance by location, race, or campaign.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Marketing and merchandise teams lack actionable insights on what’s selling, what’s underperforming, and why.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Delayed access to insights limits mid-season merch strategy adjustments.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centralized analytics hub that consolidates sales data across channels and overlays it with campaign activity: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Real-time ingestion of sales data from Unipart (online) and race-day activations (offline, if applicable).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SKU-level analytics filtered by geography, race, campaign, and </a:t>
                      </a:r>
                      <a:r>
                        <a:rPr lang="en-GB" sz="1200" b="0" err="1">
                          <a:latin typeface="+mj-lt"/>
                        </a:rPr>
                        <a:t>fulfillment</a:t>
                      </a:r>
                      <a:r>
                        <a:rPr lang="en-GB" sz="1200" b="0">
                          <a:latin typeface="+mj-lt"/>
                        </a:rPr>
                        <a:t> timelines.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Enables promotional attribution – matching sales uplift to influencer shoutouts, social posts, or on-ground placements.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Provides auto-generated insights to guide reorder decisions, stock redeployment, and pricing shifts.</a:t>
                      </a:r>
                    </a:p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Syncs with S11.1 (Campaign Planner) and S11.4 (E-Com Enhancer) for feedback loops.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Sales Data Integration Module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Pulls structured SKU-level data from Unipart and field POS (if used).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Promo-to-Performance Tagging Engine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Tags campaigns, activations, and social triggers to uplift periods.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Interactive Dashboard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Built using Tableau/Power BI to visualize product heatmaps, ROI per campaign, and fan demand hotspots.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Predictive Layer (Optional)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Projects future demand spikes based on past performance.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2E491C-BCA5-C887-C2A5-8BE5C78C66EF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AA7E93B-975A-C81E-37BB-1CF34EF85731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D699E-583B-8561-FA56-A66562C43411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Transforms sales reporting from reactive to real-time.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Empowers mid-season merchandising strategy pivots.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Strengthens the link between content/promotion and actual revenue.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BECF11-2FC0-9B95-C2E0-5004B7D134D5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Clear visibility into what’s driving sales at each race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overstock of underperforming SKUs and enables smarter reordering.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Helps plan regional product drops based on geography-specific traction.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Aligns partnerships, PR, and merchandise in one outcome-focused lens.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44F94A3-0F1C-9E63-662D-0C9EAE6AAD6F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96599C9-B6AA-DD5A-DC7C-FDEBB4879646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94C9CEAE-4A5C-B23E-3336-6997BDF1D8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B37433-C7CF-8749-30F6-D9AFF1171858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FC36AD40-B409-2264-FB1B-4F6E2A6BE5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08DAF6F-7144-AE1A-3FBD-CA1477E794EE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815B37BC-6D7E-E8D2-5243-2EF1F67D3533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18B24EF-FCD0-EE41-6A3F-A9F7CB63614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4 - 6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030E58-7E6D-991F-BCF1-180AF49EC6DA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(Tableau Developer,  Data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A2181FF-BD6B-86AE-AF7A-D06E08FA3B8F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1FF354F-3362-6A87-20A7-FEE2C203AFCE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236FBF9-A973-58A4-AB38-F29BBA47FFD8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66DE3208-96EA-12DB-8815-2A00023A2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7913C7F-32F9-E9E9-9505-979EA3E1EB20}"/>
              </a:ext>
            </a:extLst>
          </p:cNvPr>
          <p:cNvSpPr txBox="1"/>
          <p:nvPr/>
        </p:nvSpPr>
        <p:spPr>
          <a:xfrm>
            <a:off x="8892640" y="5308878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grow into a Merch Performance Intelligence Engine across multiple JLR programs (including Retail, Events, and Future Electrification merchandise).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0815D0A6-E43F-F04B-2566-8359DB46D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A176B502-CC02-4BFC-46F1-D1FF547E6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8AB11769-77DD-6CAC-B211-4A055EF75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ABE8413B-8A11-E926-99B8-F0706B32CB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33ECEC4E-FDAB-C568-7A56-DFB6C6EDB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76BC4636-2C79-D29E-7A1F-233031243F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5C630906-BEEA-94CB-0EF8-7F08D6267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DF49ED3-5537-DB88-70FB-9AB9F125CB79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20502F5D-9F14-A3C5-5F84-A1A6CD159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E5CF65F-8989-782D-5AB5-3B849862FD75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350139DF-270F-B109-470B-1EB1EFFE0331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AF9F88-2271-D0D3-7A5F-A171F131E29D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pic>
        <p:nvPicPr>
          <p:cNvPr id="23" name="Picture 20" descr="Flag - Free flags icons">
            <a:extLst>
              <a:ext uri="{FF2B5EF4-FFF2-40B4-BE49-F238E27FC236}">
                <a16:creationId xmlns:a16="http://schemas.microsoft.com/office/drawing/2014/main" id="{630B3188-A488-E93E-8F79-1383882E6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3240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A50A5FF-B452-6F1F-211D-5EBF9DDAE714}"/>
              </a:ext>
            </a:extLst>
          </p:cNvPr>
          <p:cNvSpPr txBox="1"/>
          <p:nvPr/>
        </p:nvSpPr>
        <p:spPr>
          <a:xfrm>
            <a:off x="10165354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30" name="Picture 2" descr="Rocket - Free transport icons">
            <a:extLst>
              <a:ext uri="{FF2B5EF4-FFF2-40B4-BE49-F238E27FC236}">
                <a16:creationId xmlns:a16="http://schemas.microsoft.com/office/drawing/2014/main" id="{0354C555-6C8A-4A90-ECED-50E3FF4CC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3956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760BBD8A-FA7A-EDFD-69B0-04CF9F6BBA1D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6311663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BC16-2CBE-175C-EFDA-EE1AB80FF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44EEF-93BF-CD73-AE62-26D84C9A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11 – S4 – E-Com Experience Enhancer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7EFBDBF-882E-CB7E-3DB8-6102635EEE49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The Unipart-managed merchandise site has a static user experience, lacking regional personalization or campaign responsiveness.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Fans struggle to discover relevant items linked to ongoing races, drivers, or brand moments.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AI-led recommendations or localization to improve conversions and user satisfaction.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Missed opportunities to auto-surface promotions or bundles aligned with campaign goals.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lightweight AI-driven personalization and UX overlay on the Unipart e-commerce platform that: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Dynamically adjusts homepage banners and product rows based on active campaigns, user geography, or seasonality.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Personalizes recommendations based on fan </a:t>
                      </a:r>
                      <a:r>
                        <a:rPr lang="en-GB" sz="1200" b="0" err="1">
                          <a:latin typeface="+mj-lt"/>
                        </a:rPr>
                        <a:t>behavior</a:t>
                      </a:r>
                      <a:r>
                        <a:rPr lang="en-GB" sz="1200" b="0">
                          <a:latin typeface="+mj-lt"/>
                        </a:rPr>
                        <a:t>, race calendar proximity, and past purchases.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Adds intelligent tagging to products for better search visibility and bundling (e.g., “Driver Podium Look”, “Race Weekend Essentials”).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Supports multilingual UX, region-specific compliance notices, and race-themed storefront configurations.	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Recommendation Engine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Matches fan profiles to relevant SKUs based on interest and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behavior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Dynamic Campaign Overlay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Auto-activates banners or curated product lines aligned to race or sponsor milestones.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Product Tagging Assistant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Uses GenAI to auto-suggest tags for improved discoverability.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UX Localisation Layer –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Adds geo-specific adjustments for compliance, language, or </a:t>
                      </a:r>
                      <a:r>
                        <a:rPr lang="en-GB" sz="1200" b="0" err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fulfillment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 info.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1F3C86-AA56-4010-6F53-91098A714510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FF117E-C061-1283-7566-8DE80284FBD1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B220F7-7D71-E8EE-8492-12CD481C4146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Converts the merchandise portal into a contextual, campaign-aware fan commerce touchpoint.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Increases conversion through relevance and reduced browsing friction.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engagement metrics and drives higher basket sizes.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C98A17-CFAB-139B-D1B6-E6EA9BDF13C9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Greater revenue per session through personalization.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Stronger alignment between campaign messaging and product availability.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Richer, more engaging fan experience tied to Jaguar TCS Racing moments.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bounce rate and improves searchability across the store.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72D6F8-352A-9FE9-D7A0-06892E9EF98A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F2303E9-2EE3-D784-516B-1B9638F3BB3D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5D6CCB3-F9D4-0926-5A10-91094415C3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C34A22B-E1A0-BB44-4B4E-722858008DF3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E771DC6-6258-6DC3-EF50-43A9FAF56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FD6A6A-BD04-B382-E388-DFB3638F6C9B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6D3D1CF-B883-35A2-C326-F6FFD4D013D9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7897EB-C159-FFD7-A638-FCB0F8ECE23B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6 – 8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319C373-1B9A-C43C-3606-0306038F040B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FTEs (Front-End Dev, Personalization Architect, UX Designer)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0E56230A-9BBA-4DB1-ED5B-EED8BDF5A954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6E780AF-537C-9F57-9C5F-7E271A4955CD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7AC506-BC4A-B888-1204-39F560F2C126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AE74E234-37EC-3B71-CB97-3070EB130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7AD7EB9-1C86-713A-68EF-7FFF0E2E53F2}"/>
              </a:ext>
            </a:extLst>
          </p:cNvPr>
          <p:cNvSpPr txBox="1"/>
          <p:nvPr/>
        </p:nvSpPr>
        <p:spPr>
          <a:xfrm>
            <a:off x="8892640" y="5308878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Unified Digital Fan Storefront across web, app, and race-site commerce — integrated with race-day content, social media, and campaign performance data.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61AAAAB6-53D3-4282-EBF9-9C8002F0F3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9AC49ADE-3414-24DB-E531-3B3428100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DC8DF355-EA75-D876-9923-3B968B521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590477F-5465-BC69-01C4-C2D3B9B4F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FC080881-8CD0-DE11-4507-C986CBD62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B1F71132-C3F9-2F71-951C-8C3FB403C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CB5119F-EE87-F083-7440-262365E09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213808F-AAD0-AB63-E4A1-C6E5A1ED3C4F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5D01F055-DD33-E09F-51A5-7DF2E2A26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B36AA33-C24E-DC9E-B268-6F51BCF1B04B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82746375-D42F-8AC6-9870-4D8802DD9D85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E5D5D0-5190-BE6C-FD60-04B56B660360}"/>
              </a:ext>
            </a:extLst>
          </p:cNvPr>
          <p:cNvSpPr txBox="1"/>
          <p:nvPr/>
        </p:nvSpPr>
        <p:spPr>
          <a:xfrm>
            <a:off x="8896013" y="61152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pic>
        <p:nvPicPr>
          <p:cNvPr id="4" name="Picture 20" descr="Flag - Free flags icons">
            <a:extLst>
              <a:ext uri="{FF2B5EF4-FFF2-40B4-BE49-F238E27FC236}">
                <a16:creationId xmlns:a16="http://schemas.microsoft.com/office/drawing/2014/main" id="{484761E6-B50F-1F10-1B74-BE731F7CF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0059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CC2E6E6-6764-5C33-F2C3-0555F1597752}"/>
              </a:ext>
            </a:extLst>
          </p:cNvPr>
          <p:cNvSpPr txBox="1"/>
          <p:nvPr/>
        </p:nvSpPr>
        <p:spPr>
          <a:xfrm>
            <a:off x="10152059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alibri" panose="020F0502020204030204"/>
              </a:rPr>
              <a:t>Future Disruptor</a:t>
            </a:r>
            <a:endParaRPr lang="en-GB" sz="1200" b="1" i="1">
              <a:solidFill>
                <a:srgbClr val="6DB657"/>
              </a:solidFill>
              <a:latin typeface="Calibri" panose="020F0502020204030204"/>
            </a:endParaRPr>
          </a:p>
        </p:txBody>
      </p:sp>
      <p:pic>
        <p:nvPicPr>
          <p:cNvPr id="29" name="Picture 4" descr="Disruption - Free technology icons">
            <a:extLst>
              <a:ext uri="{FF2B5EF4-FFF2-40B4-BE49-F238E27FC236}">
                <a16:creationId xmlns:a16="http://schemas.microsoft.com/office/drawing/2014/main" id="{7E39B7AE-3F86-647B-7FF4-94B85E0E32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5073" y="0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Left 22">
            <a:hlinkClick r:id="rId16" action="ppaction://hlinksldjump"/>
            <a:extLst>
              <a:ext uri="{FF2B5EF4-FFF2-40B4-BE49-F238E27FC236}">
                <a16:creationId xmlns:a16="http://schemas.microsoft.com/office/drawing/2014/main" id="{A4299983-A733-45E3-464A-AFE7788B0B3D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10842601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578AF-7E80-7539-D1E5-9AF3FEED0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F7AA-5A45-730B-0568-3FCA0F23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12 – S1 – Digital Content Publishing Orchestrator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8D8374-8C3B-0E28-B6F4-5D1CF4ADDF63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centralized scheduler exists across platforms (Sprinklr, Monday.com, WhatsApp) for managing posts.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Post duplication, missed slots, or delayed approvals due to multiple manual tools.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smart prioritization or queue management for race-critical posts.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Frequent re-sending of assets due to outdated versions or unclear approvals.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 unified publishing approval workflow for managing high-volume digital content across race weekends: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Syncs with Sprinklr and Monday.com to serve as a central publishing command </a:t>
                      </a:r>
                      <a:r>
                        <a:rPr lang="en-GB" sz="1200" b="0" err="1">
                          <a:latin typeface="+mj-lt"/>
                        </a:rPr>
                        <a:t>center</a:t>
                      </a:r>
                      <a:r>
                        <a:rPr lang="en-GB" sz="1200" b="0">
                          <a:latin typeface="+mj-lt"/>
                        </a:rPr>
                        <a:t>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Auto-prioritizes posts based on race schedule, sponsor urgency, or content type (e.g., activation, hospitality, driver quotes).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Allows creative and comms teams to schedule, approve, and modify posts in a shared interface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Templates for reels, grid posts, stories, or Tweets with auto-checks on format, tone, and approvals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Version tracking and audit trail to avoid content conflicts.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Notification triggers for missed deadlines, pending approvals, and content conflicts.</a:t>
                      </a:r>
                      <a:endParaRPr lang="en-GB" sz="1200" b="0" kern="1200">
                        <a:solidFill>
                          <a:srgbClr val="000000"/>
                        </a:solidFill>
                        <a:latin typeface="+mj-lt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Content Sync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Sprinklr + Monday.com API connectors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Template &amp; Format Logic: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Pre-built format validations by channel (Instagram, X, YouTube)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Approval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Custom Power Automate or SharePoint workflows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Priority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Auto-tagging and rule-based content sorting (by race, sponsor, urgency)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FE2473-530D-4E3F-B0A6-9F5AE9CBD8DA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678951-4084-105D-7103-77E35EFC5F57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714F6-F8F0-88DB-437A-F014AE814E1D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manual back-and-forth during race week content publishing.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smoother scheduling of critical content without clashes.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stakeholder visibility and real-time governance.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7D3335-4E04-5785-A817-FEA151F83675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Smarter orchestration of 100+ content pieces per race.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Faster content-to-live flow across digital teams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Reduced risk of duplication, omission, or version conflict.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overall brand consistency in public-facing content.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F8E2BD4-4B31-8825-9A19-8576E7655A26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BED047D-BFE3-C7D3-1DA9-1B9175B61F4C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3A4A9D0E-4427-FA3A-BA55-1A01FDA331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6BE714-BCEB-A9D0-7F2D-4C0D263BA901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8D496E7A-D1B9-102A-2088-AC4A13898A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FB9482E-FED8-1183-EDE9-4F8DE91E88D4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6AD370F0-805D-E4DF-5EC9-0CBB7018E13A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BFB17E6-DF8A-63BA-82D5-87D9FC8CAF0D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– 5 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FB1BFB-9F61-9A18-5E90-BAA4DC8D826A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FTEs (SharePoint Workflow Engineer + Content Workflow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31ABC4B9-602C-9E84-8311-A72C28D498F2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198EA6D-F833-EC3E-931D-0C88F2DF23AC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5A41DA-A146-AD6E-C2F8-A13AE2A61992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A709FCAF-677D-7B6A-DA46-C8D6C7FA5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B8783A5-03B7-0302-4242-ED1A244FB6F7}"/>
              </a:ext>
            </a:extLst>
          </p:cNvPr>
          <p:cNvSpPr txBox="1"/>
          <p:nvPr/>
        </p:nvSpPr>
        <p:spPr>
          <a:xfrm>
            <a:off x="8892640" y="5308877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Serves as base layer for a full Digital Publishing Command Hub across race and non-race content.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68CB0F53-F41F-D1FC-89B6-2647E7A58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787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6245272A-1F24-F403-05F9-512B1DAA63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2C2F0047-FE46-7A1D-D6B0-A7F4C1004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EF987B13-9C60-8F04-4740-AD58CE6A6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92D69744-74C4-A269-40E9-B9D94119D3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DDC36003-2B8C-F706-6EE5-A9D32B07C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47D98621-DB35-8F88-CF28-D095315C4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9B7B62F-4160-15F4-AA3D-1F1D38771DE4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7E1A6383-844C-5029-20F3-2CBB8ABE1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EACCAFC-ACFF-FFAC-51E4-F1066C9C8700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0381525E-516C-F08B-3E3D-F951E98AA4EB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23" name="Picture 20" descr="Flag - Free flags icons">
            <a:extLst>
              <a:ext uri="{FF2B5EF4-FFF2-40B4-BE49-F238E27FC236}">
                <a16:creationId xmlns:a16="http://schemas.microsoft.com/office/drawing/2014/main" id="{47842029-D8BC-7B34-4EC5-960704C106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9945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805AEFA-8B45-BF2E-8297-ED463C5BB5D0}"/>
              </a:ext>
            </a:extLst>
          </p:cNvPr>
          <p:cNvSpPr txBox="1"/>
          <p:nvPr/>
        </p:nvSpPr>
        <p:spPr>
          <a:xfrm>
            <a:off x="10321946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30" name="Picture 29" descr="Lightning bolt - Free technology icons">
            <a:extLst>
              <a:ext uri="{FF2B5EF4-FFF2-40B4-BE49-F238E27FC236}">
                <a16:creationId xmlns:a16="http://schemas.microsoft.com/office/drawing/2014/main" id="{AB84E093-AD59-5413-DD51-55F131DD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1947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691CDEE-6DB3-9646-B59C-60E6B3BDC4A5}"/>
              </a:ext>
            </a:extLst>
          </p:cNvPr>
          <p:cNvSpPr txBox="1"/>
          <p:nvPr/>
        </p:nvSpPr>
        <p:spPr>
          <a:xfrm>
            <a:off x="8903240" y="6088178"/>
            <a:ext cx="2433552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Technology Partner Solution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(under Title Sponsorship scope)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BD81FDEF-D6A7-9F5C-E45C-06534BAEF3AD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39915689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CACCF-08E8-EB29-374A-B049A3755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1121B-F7A5-167F-88E6-A8367CDFF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12 – S2 – Social Asset Intelligence Layer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7F94A0-C2FA-29F3-C38B-DB9A4427DA7E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Digital media assets (photos/videos) are not tagged or ranked post-race, creating heavy manual effort for reuse.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Lack of AI-based tagging leads to loss of high-impact visuals and duplication of effort.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sentiment, visibility, or fan-interaction metrics linked to the asset layer.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Monday.com and Imagen serve only as repositories - no insight layer drives asset selection.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Digital media assets with AI-powered metadata, enabling smarter reuse and insight-led selection: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Automatically tags assets using computer vision and NLP — detects speaker (driver/sponsor), event type, crowd reactions, lighting, and emotional tone.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Sentiment scoring and interaction mapping via social APIs (e.g., Sprinklr).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Ranks assets based on relevance (e.g., visibility, engagement, sponsor appearance).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Suggests top-performing assets for reuse in future events, PR reports, and campaign retrospectives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Seamless metadata injection into Imagen or SharePoint with enhanced searchability.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AI Tagging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 + vision models pre-trained on motorsport context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Social Signal Scorer: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API connectors to Sprinklr or other analytics tools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Integration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SharePoint / DAM write-back with enriched metadata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Smart Search Interface: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Relevance-weighted filters across sponsor, emotion, impact, etc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F85181-2CA8-1F55-CC83-7A757FEFBBCB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5AC7C4-C032-F791-6CBE-52CB0AB9700F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B765B-306A-4181-AE93-5FEC80664A63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faster, smarter curation of high-ROI assets.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reuse potential by unlocking hidden value from past races.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Brings intelligence to an otherwise storage-heavy, underutilized repository.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E05AD-3845-AC5F-99A1-FC9245EFBE8D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manual post-race curation effort across races.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storytelling with context-aware, high-impact visual selection.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Aligns brand voice with fan sentiment and performance-driven visuals.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Avoids redundant shoots and improves ROI of creative investment.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341DF5-A832-DD1E-E25B-51B239597730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C2CEE90-7F9E-FBFC-8212-2E4684436378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D4AF17A-8CF0-5EF9-22F5-5DE9C6CC21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139D5DD-B737-B327-E370-C787A5050B07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50004695-241B-4099-7EFE-1B9DC08041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992902-9DC4-41BA-EC30-53897C351FCD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D8CC798-41FF-B290-33BD-DE2489319E9F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CF24CAD-7A65-1A7D-91E8-865549E2EC59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5 – 6 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DFC0111-053D-81AA-436D-FC76F0871652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FTEs (AI Developer, Metadata Architect, Sprinklr Integration Analyst)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1AEFDA30-ED0C-9D27-19DF-72AE14FB55CE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F153A9E-C90E-F61E-A2C9-02928972DB64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4122116-6EDE-3D96-CC38-987DD784C647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2218E66D-0282-4C67-96C6-9CBBDADC8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3132BD3-571B-F165-AB51-112CDAFA8B22}"/>
              </a:ext>
            </a:extLst>
          </p:cNvPr>
          <p:cNvSpPr txBox="1"/>
          <p:nvPr/>
        </p:nvSpPr>
        <p:spPr>
          <a:xfrm>
            <a:off x="8892640" y="5308877"/>
            <a:ext cx="3299361" cy="93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Race Media Intelligence Hub integrated with the broader Asset Intelligence Hub (Area 9 – S3) — driving cross-channel content planning, PR exposure insights, and archival strategy.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7729ED00-0E2F-B635-C5F7-48D47C016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2286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17156F4A-147D-931B-A40F-33893CC97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05B8DA21-DCF2-B440-CAF1-DE3B08E7D8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15B6DE84-3CAB-010C-B9B1-CE36C6BC3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30F759A1-8E71-5851-2539-BC0158FDA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B63CB143-2A02-0DB6-2532-265BA0763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E755F02F-7383-C800-691A-F3E3680D5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5B9C00F-BCEA-A5A8-4E3E-DCB81F6B6A70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71497074-366A-3D10-823C-31215FFB7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4100D408-745C-3331-CD66-C6D72C5E7E16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F89F870F-1024-4F8D-53C0-D42753E616BF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9605E8-44A5-F117-F1BC-E0B546F756E0}"/>
              </a:ext>
            </a:extLst>
          </p:cNvPr>
          <p:cNvSpPr txBox="1"/>
          <p:nvPr/>
        </p:nvSpPr>
        <p:spPr>
          <a:xfrm>
            <a:off x="8896013" y="62651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7ED5EF39-667B-E030-D0F4-CF80C3D19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6392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7FB462C-C4B0-8D5A-E65F-52DB0473E97E}"/>
              </a:ext>
            </a:extLst>
          </p:cNvPr>
          <p:cNvSpPr txBox="1"/>
          <p:nvPr/>
        </p:nvSpPr>
        <p:spPr>
          <a:xfrm>
            <a:off x="9868506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ECD8D7D6-0790-711D-628E-1DD65800B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7108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Arrow: Left 22">
            <a:hlinkClick r:id="rId16" action="ppaction://hlinksldjump"/>
            <a:extLst>
              <a:ext uri="{FF2B5EF4-FFF2-40B4-BE49-F238E27FC236}">
                <a16:creationId xmlns:a16="http://schemas.microsoft.com/office/drawing/2014/main" id="{6DFE0EAA-6EB1-9B44-EFAD-A2254572348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2039174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0EB7F-4727-1AEA-B19E-A96B482B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9BB0-089E-F8D6-7EA6-3D1DAFF18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12 – S3 – Engagement &amp; Moderation Intelligence Console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8D849F8-46B9-537C-1FE4-176BDF57F1F2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310896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Race-day social media engagement is tracked manually using WhatsApp and Sprinklr, leading to inconsistent responses and potential slippages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AI-led triage for high-sentiment, sensitive, or viral posts.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escalation path for engagement requiring driver/team responses or PR intervention.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Community moderation is entirely dependent on team vigilance without automation.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An AI-powered console for real-time social media engagement and smart moderation orchestration: 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Real-time listener dashboard identifies spikes in engagement and flags high-risk or high-impact comments/posts.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AI triage engine tags interactions (positive, negative, complaint, spam, urgent) and routes them to designated team members.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Escalation protocols to alert PR, social, or partnerships teams for brand-sensitive or influencer-linked content.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Pre-approved response library for consistent communication.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Seamless sync with Sprinklr, WhatsApp, and content publishing layers for in-flow resolution.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Sentiment Detection Model: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Trained on fan comments across platforms (X, Instagram, TikTok)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Escalation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Based on engagement type, volume, and audience tier.</a:t>
                      </a: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	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Response Library Plugin: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Canned replies by situation, brand tone, or sponsor type.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Channel Integration Layer: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Real-time API sync with Sprinklr, WhatsApp, and internal notification systems.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A9BA919-EA89-1C73-DCD6-0A80016F3AF1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2415BB-1B80-50E5-F31F-D7BCD53E2427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25406-5B79-9FB4-D765-D3431775ED42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Faster, more consistent response to high-impact fan messages.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manual monitoring stress during peak engagement hours.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Prevents brand risk by ensuring sensitive topics are auto-flagged and escalated.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3879CC-D221-1574-154E-AED7B1F51165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Builds structured moderation capacity within the team.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Improves fan trust through timely and personalized responses.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Reduces burnout and miscommunication during race weekends.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data capture on fan issues, engagement quality, and escalation patterns.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2E28343-B858-AB3A-916D-D85D070AB501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A7A245E-3AB0-35CD-3F00-134177CBF69A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5C2AEEDB-D5DD-9039-9820-35B17B128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C05004-F6FF-3C1F-B171-29AF1D05320B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BC4ABB95-C3F4-3CA9-F783-307E82D072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3E208A2-60A5-51E7-9557-6A905C48FFC5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6A36DE4-108A-5231-1ACF-D1B5D1606854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BC6B358-FF59-B422-279F-4C66655C086D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3 – 4 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45E7F4D-A97C-1222-4CDD-A4BE8CC50D54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(Sentiment Analyst, Workflow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5A327026-90F8-91AF-6205-7A60070E873F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3DA111-3617-E5AC-B85C-7A9080111D3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3A5B929-1D5C-F982-2DAD-B6A7E777BF68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755290D8-A03D-C383-922D-5DE10E910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0FB8AAD-F091-B092-A1F5-BF3C1E57B091}"/>
              </a:ext>
            </a:extLst>
          </p:cNvPr>
          <p:cNvSpPr txBox="1"/>
          <p:nvPr/>
        </p:nvSpPr>
        <p:spPr>
          <a:xfrm>
            <a:off x="8892640" y="5308878"/>
            <a:ext cx="3299361" cy="763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Unified Reputation &amp; Risk Monitoring Console, used across JLR divisions to track digital sentiment, influencer reactions, and crisis detection.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A620058F-25F7-CF5A-E2BD-64D8D808C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228620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FE3171CC-40AC-0999-FC38-6E7DC2885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FB379E0F-C764-6BA2-097B-EC11B79ECB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4C1FB6BE-E5E3-BE02-5322-06FC813F0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E380AA18-50C1-67C4-75AD-A1344AB22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59B1BB55-44AE-77E2-4B69-7695488A9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7F6770FE-5F25-C9BB-E73F-F2E2C83CB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1CEB1B4-8159-A27A-CD46-CF69472EAE00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63107D05-738C-BC4F-1893-BEF06FF18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FD10B7F-699C-612A-2318-C784CE0FEE35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6DB657"/>
                </a:solidFill>
                <a:latin typeface="Century" panose="02040604050505020304" pitchFamily="18" charset="0"/>
              </a:rPr>
              <a:t>High</a:t>
            </a:r>
            <a:endParaRPr lang="en-GB" sz="1200" b="1" i="1">
              <a:solidFill>
                <a:srgbClr val="6DB657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BC98C8E1-EE16-2E35-A887-A6BED562EBD7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1C4891-BE8C-A323-C04C-FD9856025128}"/>
              </a:ext>
            </a:extLst>
          </p:cNvPr>
          <p:cNvSpPr txBox="1"/>
          <p:nvPr/>
        </p:nvSpPr>
        <p:spPr>
          <a:xfrm>
            <a:off x="8896013" y="6265189"/>
            <a:ext cx="2145823" cy="428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Strategic Solution </a:t>
            </a:r>
          </a:p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(Co-Innovation Category)</a:t>
            </a:r>
          </a:p>
        </p:txBody>
      </p:sp>
      <p:pic>
        <p:nvPicPr>
          <p:cNvPr id="23" name="Picture 20" descr="Flag - Free flags icons">
            <a:extLst>
              <a:ext uri="{FF2B5EF4-FFF2-40B4-BE49-F238E27FC236}">
                <a16:creationId xmlns:a16="http://schemas.microsoft.com/office/drawing/2014/main" id="{BD141EBF-AC4B-A798-D848-33EF00B13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4989" y="75345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AA8B5F9-DF0A-7E05-95F6-933E81FEF5AF}"/>
              </a:ext>
            </a:extLst>
          </p:cNvPr>
          <p:cNvSpPr txBox="1"/>
          <p:nvPr/>
        </p:nvSpPr>
        <p:spPr>
          <a:xfrm>
            <a:off x="10586990" y="77235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33629A"/>
                </a:solidFill>
                <a:latin typeface="Calibri" panose="020F0502020204030204"/>
              </a:rPr>
              <a:t>Quick Win</a:t>
            </a:r>
            <a:endParaRPr lang="en-GB" sz="1200" b="1" i="1">
              <a:solidFill>
                <a:srgbClr val="33629A"/>
              </a:solidFill>
              <a:latin typeface="Calibri" panose="020F0502020204030204"/>
            </a:endParaRPr>
          </a:p>
        </p:txBody>
      </p:sp>
      <p:pic>
        <p:nvPicPr>
          <p:cNvPr id="30" name="Picture 29" descr="Lightning bolt - Free technology icons">
            <a:extLst>
              <a:ext uri="{FF2B5EF4-FFF2-40B4-BE49-F238E27FC236}">
                <a16:creationId xmlns:a16="http://schemas.microsoft.com/office/drawing/2014/main" id="{4C9FC183-ABCE-D917-5F54-83CC32008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6991" y="29163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Left 12">
            <a:hlinkClick r:id="rId16" action="ppaction://hlinksldjump"/>
            <a:extLst>
              <a:ext uri="{FF2B5EF4-FFF2-40B4-BE49-F238E27FC236}">
                <a16:creationId xmlns:a16="http://schemas.microsoft.com/office/drawing/2014/main" id="{E4A164AA-FB23-F98D-276D-99667418D6B5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7082508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01270-BB2B-5882-266E-02777213D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8459E-8FF6-1D90-4532-1B6C9BE01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1" y="101476"/>
            <a:ext cx="10514927" cy="737369"/>
          </a:xfrm>
        </p:spPr>
        <p:txBody>
          <a:bodyPr/>
          <a:lstStyle/>
          <a:p>
            <a:r>
              <a:rPr lang="en-GB">
                <a:solidFill>
                  <a:schemeClr val="accent1"/>
                </a:solidFill>
              </a:rPr>
              <a:t>AREA 12 – S4 – </a:t>
            </a:r>
            <a:r>
              <a:rPr lang="fr-FR">
                <a:solidFill>
                  <a:schemeClr val="accent1"/>
                </a:solidFill>
              </a:rPr>
              <a:t>Digital Fan Interaction &amp; Sentiment Hub</a:t>
            </a:r>
            <a:endParaRPr lang="en-GB">
              <a:solidFill>
                <a:schemeClr val="accent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A55FC8-4BD6-68EB-BA8A-A1B606A7C840}"/>
              </a:ext>
            </a:extLst>
          </p:cNvPr>
          <p:cNvGraphicFramePr>
            <a:graphicFrameLocks noGrp="1"/>
          </p:cNvGraphicFramePr>
          <p:nvPr/>
        </p:nvGraphicFramePr>
        <p:xfrm>
          <a:off x="364482" y="561675"/>
          <a:ext cx="11463036" cy="349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8101">
                  <a:extLst>
                    <a:ext uri="{9D8B030D-6E8A-4147-A177-3AD203B41FA5}">
                      <a16:colId xmlns:a16="http://schemas.microsoft.com/office/drawing/2014/main" val="2842339396"/>
                    </a:ext>
                  </a:extLst>
                </a:gridCol>
                <a:gridCol w="3763923">
                  <a:extLst>
                    <a:ext uri="{9D8B030D-6E8A-4147-A177-3AD203B41FA5}">
                      <a16:colId xmlns:a16="http://schemas.microsoft.com/office/drawing/2014/main" val="2245326951"/>
                    </a:ext>
                  </a:extLst>
                </a:gridCol>
                <a:gridCol w="3821012">
                  <a:extLst>
                    <a:ext uri="{9D8B030D-6E8A-4147-A177-3AD203B41FA5}">
                      <a16:colId xmlns:a16="http://schemas.microsoft.com/office/drawing/2014/main" val="851113765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Problem We Are Solving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Proposed Solution Overview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8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300" b="1" i="0" kern="1200" spc="100" baseline="0">
                          <a:solidFill>
                            <a:srgbClr val="FFFFFF"/>
                          </a:solidFill>
                          <a:latin typeface="Houschka Rounded Alt Medium It"/>
                          <a:ea typeface="+mn-ea"/>
                          <a:cs typeface="Calibri Light"/>
                        </a:rPr>
                        <a:t>Solution Enablers</a:t>
                      </a:r>
                    </a:p>
                  </a:txBody>
                  <a:tcPr marL="182880" marR="182880" marT="182880" marB="182880"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0000">
                          <a:schemeClr val="tx2">
                            <a:lumMod val="60000"/>
                            <a:lumOff val="40000"/>
                          </a:schemeClr>
                        </a:gs>
                        <a:gs pos="100000">
                          <a:schemeClr val="bg1"/>
                        </a:gs>
                      </a:gsLst>
                      <a:lin ang="420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782284402"/>
                  </a:ext>
                </a:extLst>
              </a:tr>
              <a:tr h="2926080">
                <a:tc>
                  <a:txBody>
                    <a:bodyPr/>
                    <a:lstStyle/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consolidated view of fan </a:t>
                      </a:r>
                      <a:r>
                        <a:rPr lang="en-GB" sz="1200" kern="1200" err="1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behavior</a:t>
                      </a: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, preferences, or loyalty across platforms and races.	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Engagement data is scattered across Sprinklr, WhatsApp updates, and influencer insights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No structured sentiment tracking across campaigns or content types.</a:t>
                      </a:r>
                    </a:p>
                    <a:p>
                      <a:pPr marL="128270" lvl="0" indent="-128270" algn="l" defTabSz="685732" rtl="0" eaLnBrk="1" latinLnBrk="0" hangingPunct="1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kern="1200">
                          <a:solidFill>
                            <a:schemeClr val="dk1"/>
                          </a:solidFill>
                          <a:latin typeface="+mj-lt"/>
                          <a:ea typeface="Lato regular"/>
                          <a:cs typeface="Calibri"/>
                        </a:rPr>
                        <a:t>Teams cannot identify top-performing fan zones, regional reactions, or emotional moments</a:t>
                      </a:r>
                      <a:endParaRPr lang="en-GB" sz="1200">
                        <a:latin typeface="+mj-lt"/>
                        <a:ea typeface="Lato regular"/>
                        <a:cs typeface="Calibri"/>
                      </a:endParaRPr>
                    </a:p>
                  </a:txBody>
                  <a:tcPr marL="182880" marR="182880" marT="182880" marB="18288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TCS proposes a centralized Digital Fan Interaction &amp; Sentiment Hub to unify fan analytics across races, campaigns, and content types: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Aggregates fan engagement (likes, comments, shares, reactions) across Sprinklr, TikTok, X, Instagram, and YouTube.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Segments engagement by geography, driver, sponsor, content format, and campaign timeline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Tracks emotional tone of reactions per race or post (e.g., excitement, frustration, confusion)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Identifies loyal fan clusters, regional trends, and emerging topics of interest.	</a:t>
                      </a:r>
                    </a:p>
                    <a:p>
                      <a:pPr marL="171450" marR="0" lvl="0" indent="-171450" algn="l" defTabSz="6856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200" b="0">
                          <a:latin typeface="+mj-lt"/>
                        </a:rPr>
                        <a:t>Visual dashboards to support campaign planning, partner reports, and fan engagement strategy..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Fan Interaction Aggregator: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Pulls structured data from all digital/social platforms via Sprinklr and APIs.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Sentiment &amp; Emotion Classifier: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NLP-based tagging of fan responses by mood and theme.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Audience Segmentation Engine: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Groups fan interactions by race, geography, interest area, or frequency.</a:t>
                      </a:r>
                    </a:p>
                    <a:p>
                      <a:pPr marL="128270" indent="-128270" defTabSz="685732">
                        <a:spcBef>
                          <a:spcPts val="450"/>
                        </a:spcBef>
                        <a:buClr>
                          <a:srgbClr val="6950A1"/>
                        </a:buClr>
                        <a:buFont typeface="Wingdings" panose="05000000000000000000" pitchFamily="2" charset="2"/>
                        <a:buChar char="§"/>
                        <a:defRPr/>
                      </a:pPr>
                      <a:r>
                        <a:rPr lang="en-GB" sz="1200" b="1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Campaign Impact Visualizer: </a:t>
                      </a:r>
                      <a:r>
                        <a:rPr lang="en-GB" sz="1200" b="0">
                          <a:solidFill>
                            <a:srgbClr val="000000"/>
                          </a:solidFill>
                          <a:latin typeface="+mj-lt"/>
                          <a:ea typeface="Calibri"/>
                          <a:cs typeface="Calibri"/>
                        </a:rPr>
                        <a:t>Measures which posts or themes drive the strongest responses.</a:t>
                      </a:r>
                    </a:p>
                  </a:txBody>
                  <a:tcPr marL="182880" marR="182880" marT="182880" marB="182880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alpha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16661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D8F867-C22C-C799-170F-53EA23A0DD57}"/>
              </a:ext>
            </a:extLst>
          </p:cNvPr>
          <p:cNvSpPr/>
          <p:nvPr/>
        </p:nvSpPr>
        <p:spPr>
          <a:xfrm>
            <a:off x="364482" y="4092287"/>
            <a:ext cx="3844409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Impact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F7767C-731D-29B9-15B7-3BD543C87DE3}"/>
              </a:ext>
            </a:extLst>
          </p:cNvPr>
          <p:cNvSpPr/>
          <p:nvPr/>
        </p:nvSpPr>
        <p:spPr>
          <a:xfrm>
            <a:off x="4310098" y="4092287"/>
            <a:ext cx="3673015" cy="365880"/>
          </a:xfrm>
          <a:prstGeom prst="roundRect">
            <a:avLst/>
          </a:prstGeom>
          <a:gradFill flip="none" rotWithShape="1">
            <a:gsLst>
              <a:gs pos="45000">
                <a:srgbClr val="708383"/>
              </a:gs>
              <a:gs pos="100000">
                <a:srgbClr val="D9D9D9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1400" b="1">
                <a:solidFill>
                  <a:srgbClr val="FFFFFF"/>
                </a:solidFill>
                <a:latin typeface="Calibri" panose="020F0502020204030204"/>
              </a:rPr>
              <a:t>Benefits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B3CDA7-A3F1-9202-AD4C-4D7DA25B3F66}"/>
              </a:ext>
            </a:extLst>
          </p:cNvPr>
          <p:cNvSpPr txBox="1"/>
          <p:nvPr/>
        </p:nvSpPr>
        <p:spPr>
          <a:xfrm>
            <a:off x="364482" y="4393624"/>
            <a:ext cx="3844409" cy="173436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deeper understanding of what fans care about and how they respond per race or campaign.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Enables data-driven campaign tailoring and creative planning.	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Enhances partner reporting with fan sentiment insights and regional resonance.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B89AB4-D411-55BC-793B-CC9E8049AD4D}"/>
              </a:ext>
            </a:extLst>
          </p:cNvPr>
          <p:cNvSpPr txBox="1"/>
          <p:nvPr/>
        </p:nvSpPr>
        <p:spPr>
          <a:xfrm>
            <a:off x="4310098" y="4460975"/>
            <a:ext cx="3673015" cy="145202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Moves the team beyond vanity metrics to audience intelligence.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Supports loyalty-driven planning for future engagement campaigns.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Informs both content design and sponsor alignment strategies.</a:t>
            </a:r>
          </a:p>
          <a:p>
            <a:pPr marL="228594" indent="-228594" defTabSz="914241">
              <a:buFont typeface="Wingdings" pitchFamily="2" charset="2"/>
              <a:buChar char="§"/>
              <a:defRPr/>
            </a:pPr>
            <a:r>
              <a:rPr lang="en-GB" sz="1200">
                <a:solidFill>
                  <a:srgbClr val="000000"/>
                </a:solidFill>
                <a:latin typeface="Calibri" panose="020F0502020204030204"/>
              </a:rPr>
              <a:t>Provides new storytelling angles based on fan reactions and emotional spikes.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6D409B0-AB3C-5B00-7251-7F6412D845CD}"/>
              </a:ext>
            </a:extLst>
          </p:cNvPr>
          <p:cNvGrpSpPr/>
          <p:nvPr/>
        </p:nvGrpSpPr>
        <p:grpSpPr>
          <a:xfrm>
            <a:off x="7983113" y="4092280"/>
            <a:ext cx="4055343" cy="1111272"/>
            <a:chOff x="5987334" y="3045354"/>
            <a:chExt cx="3041507" cy="83345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F78EFEB-E1FC-A64C-6450-860B6B5AD3F9}"/>
                </a:ext>
              </a:extLst>
            </p:cNvPr>
            <p:cNvGrpSpPr/>
            <p:nvPr/>
          </p:nvGrpSpPr>
          <p:grpSpPr>
            <a:xfrm>
              <a:off x="5987334" y="3045354"/>
              <a:ext cx="3041507" cy="833454"/>
              <a:chOff x="5987334" y="3390546"/>
              <a:chExt cx="3041507" cy="833454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6C6E3F7D-8309-0C12-E028-D108BFB2FA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3000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118249F-FCA5-07CB-9619-6F089EBBDC6F}"/>
                  </a:ext>
                </a:extLst>
              </p:cNvPr>
              <p:cNvSpPr txBox="1"/>
              <p:nvPr/>
            </p:nvSpPr>
            <p:spPr>
              <a:xfrm>
                <a:off x="5987334" y="3593104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Idea</a:t>
                </a: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E71B5DCD-2E69-EBB0-1C64-3A7EA44B8A0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8175" y="3584178"/>
                <a:ext cx="405000" cy="405000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729076-2AD4-2131-5E91-D0B7A4300AE1}"/>
                  </a:ext>
                </a:extLst>
              </p:cNvPr>
              <p:cNvSpPr txBox="1"/>
              <p:nvPr/>
            </p:nvSpPr>
            <p:spPr>
              <a:xfrm>
                <a:off x="8202159" y="4004709"/>
                <a:ext cx="826682" cy="1962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554047"/>
                <a:r>
                  <a:rPr lang="en-GB" sz="1100" b="1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ROLL-OUT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04E72024-7C06-791C-0116-9E0DCFAB2B2F}"/>
                  </a:ext>
                </a:extLst>
              </p:cNvPr>
              <p:cNvCxnSpPr>
                <a:stCxn id="11" idx="3"/>
                <a:endCxn id="9" idx="1"/>
              </p:cNvCxnSpPr>
              <p:nvPr/>
            </p:nvCxnSpPr>
            <p:spPr>
              <a:xfrm>
                <a:off x="6603175" y="3786678"/>
                <a:ext cx="1809825" cy="0"/>
              </a:xfrm>
              <a:prstGeom prst="straightConnector1">
                <a:avLst/>
              </a:prstGeom>
              <a:ln>
                <a:solidFill>
                  <a:srgbClr val="4E84C4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28A6B53-6545-DEC1-501C-2C40E1D769F1}"/>
                  </a:ext>
                </a:extLst>
              </p:cNvPr>
              <p:cNvSpPr txBox="1"/>
              <p:nvPr/>
            </p:nvSpPr>
            <p:spPr>
              <a:xfrm>
                <a:off x="6752453" y="3584178"/>
                <a:ext cx="1511268" cy="21929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4 - 5  weeks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228CB48-7E07-854C-DA21-EF2BD31E73A5}"/>
                  </a:ext>
                </a:extLst>
              </p:cNvPr>
              <p:cNvSpPr txBox="1"/>
              <p:nvPr/>
            </p:nvSpPr>
            <p:spPr>
              <a:xfrm>
                <a:off x="6752453" y="3793743"/>
                <a:ext cx="1511268" cy="405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2 FTEs (Data Analyst, NLP Developer)</a:t>
                </a:r>
              </a:p>
            </p:txBody>
          </p:sp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9092AF2A-FB6B-D8FC-9E5F-7E6468BB34AC}"/>
                  </a:ext>
                </a:extLst>
              </p:cNvPr>
              <p:cNvSpPr/>
              <p:nvPr/>
            </p:nvSpPr>
            <p:spPr>
              <a:xfrm>
                <a:off x="6082748" y="3456959"/>
                <a:ext cx="2787890" cy="767041"/>
              </a:xfrm>
              <a:prstGeom prst="roundRect">
                <a:avLst/>
              </a:prstGeom>
              <a:noFill/>
              <a:ln>
                <a:solidFill>
                  <a:srgbClr val="F0B3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554047"/>
                <a:endParaRPr lang="en-GB" sz="2133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8355327-0DE8-F571-0E2B-AD336A4733C2}"/>
                  </a:ext>
                </a:extLst>
              </p:cNvPr>
              <p:cNvSpPr txBox="1"/>
              <p:nvPr/>
            </p:nvSpPr>
            <p:spPr>
              <a:xfrm>
                <a:off x="7013338" y="3390546"/>
                <a:ext cx="926710" cy="131196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algn="ctr" defTabSz="554047"/>
                <a:r>
                  <a:rPr lang="en-GB" sz="1200">
                    <a:solidFill>
                      <a:srgbClr val="000000"/>
                    </a:solidFill>
                    <a:latin typeface="Calibri" panose="020F0502020204030204"/>
                  </a:rPr>
                  <a:t>Indicative Timeline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4AB8856-87F4-FF26-1F5E-D4990C1BB02A}"/>
                </a:ext>
              </a:extLst>
            </p:cNvPr>
            <p:cNvSpPr txBox="1"/>
            <p:nvPr/>
          </p:nvSpPr>
          <p:spPr>
            <a:xfrm>
              <a:off x="6198175" y="3659744"/>
              <a:ext cx="405000" cy="196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554047"/>
              <a:r>
                <a:rPr lang="en-GB" sz="1100" b="1">
                  <a:solidFill>
                    <a:srgbClr val="000000">
                      <a:lumMod val="65000"/>
                      <a:lumOff val="35000"/>
                    </a:srgb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IDEA</a:t>
              </a:r>
            </a:p>
          </p:txBody>
        </p:sp>
      </p:grpSp>
      <p:pic>
        <p:nvPicPr>
          <p:cNvPr id="1026" name="Picture 2" descr="Future - Free technology icons">
            <a:extLst>
              <a:ext uri="{FF2B5EF4-FFF2-40B4-BE49-F238E27FC236}">
                <a16:creationId xmlns:a16="http://schemas.microsoft.com/office/drawing/2014/main" id="{2CBF10C3-E5C2-0B7E-4917-E389B3755A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33" y="5351285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1E92581-AD6E-F7A4-F92D-25E0903E69DE}"/>
              </a:ext>
            </a:extLst>
          </p:cNvPr>
          <p:cNvSpPr txBox="1"/>
          <p:nvPr/>
        </p:nvSpPr>
        <p:spPr>
          <a:xfrm>
            <a:off x="8892640" y="5308878"/>
            <a:ext cx="3299361" cy="59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Future Scalability: </a:t>
            </a:r>
            <a:r>
              <a:rPr lang="en-GB" sz="1091">
                <a:solidFill>
                  <a:srgbClr val="000000"/>
                </a:solidFill>
                <a:latin typeface="Calibri" panose="020F0502020204030204"/>
              </a:rPr>
              <a:t>Can evolve into a Fan Intelligence Engine, supporting CRM tagging, loyalty program design, and cross-channel campaign personalisation.</a:t>
            </a:r>
          </a:p>
        </p:txBody>
      </p:sp>
      <p:pic>
        <p:nvPicPr>
          <p:cNvPr id="1028" name="Picture 4" descr="Position - Free signs icons">
            <a:extLst>
              <a:ext uri="{FF2B5EF4-FFF2-40B4-BE49-F238E27FC236}">
                <a16:creationId xmlns:a16="http://schemas.microsoft.com/office/drawing/2014/main" id="{BAA6D7D3-5EC9-8918-16BE-7713423DB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52" y="6068727"/>
            <a:ext cx="542400" cy="54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blem - Free security icons">
            <a:extLst>
              <a:ext uri="{FF2B5EF4-FFF2-40B4-BE49-F238E27FC236}">
                <a16:creationId xmlns:a16="http://schemas.microsoft.com/office/drawing/2014/main" id="{E41ACF01-6628-AC8C-E6E5-DD0A9BFAE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37" y="59974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olution - Free miscellaneous icons">
            <a:extLst>
              <a:ext uri="{FF2B5EF4-FFF2-40B4-BE49-F238E27FC236}">
                <a16:creationId xmlns:a16="http://schemas.microsoft.com/office/drawing/2014/main" id="{E501A254-1218-1383-E0BB-B95B6B4FD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53" y="577900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olution - Free marketing icons">
            <a:extLst>
              <a:ext uri="{FF2B5EF4-FFF2-40B4-BE49-F238E27FC236}">
                <a16:creationId xmlns:a16="http://schemas.microsoft.com/office/drawing/2014/main" id="{9247F033-FE00-D0F7-9508-F842DC70A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33" y="579109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Impact - Free business and finance icons">
            <a:extLst>
              <a:ext uri="{FF2B5EF4-FFF2-40B4-BE49-F238E27FC236}">
                <a16:creationId xmlns:a16="http://schemas.microsoft.com/office/drawing/2014/main" id="{A69AD477-0C50-D0E3-C63D-F01EEDCAC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269" y="4105176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enefits - Free business and finance icons">
            <a:extLst>
              <a:ext uri="{FF2B5EF4-FFF2-40B4-BE49-F238E27FC236}">
                <a16:creationId xmlns:a16="http://schemas.microsoft.com/office/drawing/2014/main" id="{52080B39-7BEB-1F65-9554-B04AB4886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9491" y="4102888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Adaptability - Free user icons">
            <a:extLst>
              <a:ext uri="{FF2B5EF4-FFF2-40B4-BE49-F238E27FC236}">
                <a16:creationId xmlns:a16="http://schemas.microsoft.com/office/drawing/2014/main" id="{1999D738-B87E-B5CB-5746-AE834A1F6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5318" y="5948159"/>
            <a:ext cx="431663" cy="43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370A820-A9CF-F92F-D76F-87E71BEB5677}"/>
              </a:ext>
            </a:extLst>
          </p:cNvPr>
          <p:cNvSpPr txBox="1"/>
          <p:nvPr/>
        </p:nvSpPr>
        <p:spPr>
          <a:xfrm>
            <a:off x="2706981" y="5948159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Adaptability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pic>
        <p:nvPicPr>
          <p:cNvPr id="1042" name="Picture 18" descr="Feasibility - Free marketing icons">
            <a:extLst>
              <a:ext uri="{FF2B5EF4-FFF2-40B4-BE49-F238E27FC236}">
                <a16:creationId xmlns:a16="http://schemas.microsoft.com/office/drawing/2014/main" id="{A6049521-A337-E849-DE12-CD98905C5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4941" y="5963307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B6BF10E-D627-15C6-B8F5-3F4919719236}"/>
              </a:ext>
            </a:extLst>
          </p:cNvPr>
          <p:cNvSpPr txBox="1"/>
          <p:nvPr/>
        </p:nvSpPr>
        <p:spPr>
          <a:xfrm>
            <a:off x="4728377" y="5951000"/>
            <a:ext cx="1037143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Feasibility</a:t>
            </a:r>
          </a:p>
          <a:p>
            <a:pPr defTabSz="554047"/>
            <a:r>
              <a:rPr lang="en-GB" sz="1200" b="1">
                <a:solidFill>
                  <a:srgbClr val="F0B34F"/>
                </a:solidFill>
                <a:latin typeface="Century" panose="02040604050505020304" pitchFamily="18" charset="0"/>
              </a:rPr>
              <a:t>Medium</a:t>
            </a:r>
            <a:endParaRPr lang="en-GB" sz="1200" b="1" i="1">
              <a:solidFill>
                <a:srgbClr val="F0B34F"/>
              </a:solidFill>
              <a:latin typeface="Century" panose="02040604050505020304" pitchFamily="18" charset="0"/>
            </a:endParaRPr>
          </a:p>
        </p:txBody>
      </p:sp>
      <p:sp>
        <p:nvSpPr>
          <p:cNvPr id="28" name="Footer Placeholder 2">
            <a:extLst>
              <a:ext uri="{FF2B5EF4-FFF2-40B4-BE49-F238E27FC236}">
                <a16:creationId xmlns:a16="http://schemas.microsoft.com/office/drawing/2014/main" id="{3D76212A-08F3-61A0-6BD6-4899000A7153}"/>
              </a:ext>
            </a:extLst>
          </p:cNvPr>
          <p:cNvSpPr txBox="1">
            <a:spLocks/>
          </p:cNvSpPr>
          <p:nvPr/>
        </p:nvSpPr>
        <p:spPr>
          <a:xfrm>
            <a:off x="6096001" y="6346288"/>
            <a:ext cx="2501900" cy="237392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777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554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3318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1090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8863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6636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54409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62182" algn="l" defTabSz="415546" rtl="0" eaLnBrk="1" latinLnBrk="0" hangingPunct="1">
              <a:defRPr sz="8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047"/>
            <a:r>
              <a:rPr lang="en-US" sz="1091">
                <a:solidFill>
                  <a:srgbClr val="000000"/>
                </a:solidFill>
                <a:latin typeface="Calibri" panose="020F0502020204030204"/>
              </a:rPr>
              <a:t>TCS JTR Confidential</a:t>
            </a:r>
          </a:p>
        </p:txBody>
      </p:sp>
      <p:pic>
        <p:nvPicPr>
          <p:cNvPr id="13" name="Picture 20" descr="Flag - Free flags icons">
            <a:extLst>
              <a:ext uri="{FF2B5EF4-FFF2-40B4-BE49-F238E27FC236}">
                <a16:creationId xmlns:a16="http://schemas.microsoft.com/office/drawing/2014/main" id="{7AA5DA5E-43C5-B611-B17C-AC4B6BDD0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7824" y="54143"/>
            <a:ext cx="432000" cy="4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7C00290-4887-888E-3620-616588A46D37}"/>
              </a:ext>
            </a:extLst>
          </p:cNvPr>
          <p:cNvSpPr txBox="1"/>
          <p:nvPr/>
        </p:nvSpPr>
        <p:spPr>
          <a:xfrm>
            <a:off x="10069938" y="56033"/>
            <a:ext cx="1605269" cy="444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>
                <a:solidFill>
                  <a:srgbClr val="000000"/>
                </a:solidFill>
                <a:latin typeface="Calibri" panose="020F0502020204030204"/>
              </a:rPr>
              <a:t>Prioritization</a:t>
            </a:r>
          </a:p>
          <a:p>
            <a:pPr defTabSz="554047"/>
            <a:r>
              <a:rPr lang="en-GB" sz="1200" b="1">
                <a:solidFill>
                  <a:srgbClr val="DF653A"/>
                </a:solidFill>
                <a:latin typeface="Calibri" panose="020F0502020204030204"/>
              </a:rPr>
              <a:t>Strategic Accelerator</a:t>
            </a:r>
            <a:endParaRPr lang="en-GB" sz="1200" b="1" i="1">
              <a:solidFill>
                <a:srgbClr val="DF653A"/>
              </a:solidFill>
              <a:latin typeface="Calibri" panose="020F0502020204030204"/>
            </a:endParaRPr>
          </a:p>
        </p:txBody>
      </p:sp>
      <p:pic>
        <p:nvPicPr>
          <p:cNvPr id="29" name="Picture 2" descr="Rocket - Free transport icons">
            <a:extLst>
              <a:ext uri="{FF2B5EF4-FFF2-40B4-BE49-F238E27FC236}">
                <a16:creationId xmlns:a16="http://schemas.microsoft.com/office/drawing/2014/main" id="{3FB63E4C-8663-3E8D-246B-C3A3F4007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8540" y="78143"/>
            <a:ext cx="192000" cy="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929E2CA-3A76-5D83-A558-43EDD0A79A2C}"/>
              </a:ext>
            </a:extLst>
          </p:cNvPr>
          <p:cNvSpPr txBox="1"/>
          <p:nvPr/>
        </p:nvSpPr>
        <p:spPr>
          <a:xfrm>
            <a:off x="8883954" y="6188799"/>
            <a:ext cx="2145823" cy="26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554047"/>
            <a:r>
              <a:rPr lang="en-GB" sz="1091" b="1" i="1">
                <a:solidFill>
                  <a:srgbClr val="000000"/>
                </a:solidFill>
                <a:latin typeface="Calibri" panose="020F0502020204030204"/>
              </a:rPr>
              <a:t>TCS JTR Commercialized Solution </a:t>
            </a:r>
          </a:p>
        </p:txBody>
      </p:sp>
      <p:sp>
        <p:nvSpPr>
          <p:cNvPr id="4" name="Arrow: Left 3">
            <a:hlinkClick r:id="rId16" action="ppaction://hlinksldjump"/>
            <a:extLst>
              <a:ext uri="{FF2B5EF4-FFF2-40B4-BE49-F238E27FC236}">
                <a16:creationId xmlns:a16="http://schemas.microsoft.com/office/drawing/2014/main" id="{7C364E6B-63AA-78AD-BD84-B139303B7C43}"/>
              </a:ext>
            </a:extLst>
          </p:cNvPr>
          <p:cNvSpPr/>
          <p:nvPr/>
        </p:nvSpPr>
        <p:spPr>
          <a:xfrm>
            <a:off x="11563824" y="-20886"/>
            <a:ext cx="644536" cy="624463"/>
          </a:xfrm>
          <a:prstGeom prst="leftArrow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554047"/>
            <a:r>
              <a:rPr lang="en-GB" sz="933">
                <a:solidFill>
                  <a:srgbClr val="FFFFFF"/>
                </a:solidFill>
                <a:latin typeface="Calibri" panose="020F0502020204030204"/>
              </a:rPr>
              <a:t>Go Back</a:t>
            </a:r>
          </a:p>
        </p:txBody>
      </p:sp>
    </p:spTree>
    <p:extLst>
      <p:ext uri="{BB962C8B-B14F-4D97-AF65-F5344CB8AC3E}">
        <p14:creationId xmlns:p14="http://schemas.microsoft.com/office/powerpoint/2010/main" val="2800262544"/>
      </p:ext>
    </p:extLst>
  </p:cSld>
  <p:clrMapOvr>
    <a:masterClrMapping/>
  </p:clrMapOvr>
</p:sld>
</file>

<file path=ppt/theme/theme1.xml><?xml version="1.0" encoding="utf-8"?>
<a:theme xmlns:a="http://schemas.openxmlformats.org/drawingml/2006/main" name="1_Content Slide_White_with color logo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C9422EB1-8113-4666-82F6-00D163C9C5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18037</Words>
  <Application>Microsoft Office PowerPoint</Application>
  <PresentationFormat>Widescreen</PresentationFormat>
  <Paragraphs>2261</Paragraphs>
  <Slides>53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0" baseType="lpstr">
      <vt:lpstr>Aptos</vt:lpstr>
      <vt:lpstr>Arial</vt:lpstr>
      <vt:lpstr>Calibri</vt:lpstr>
      <vt:lpstr>Century</vt:lpstr>
      <vt:lpstr>Houschka Rounded Alt Medium It</vt:lpstr>
      <vt:lpstr>Wingdings</vt:lpstr>
      <vt:lpstr>1_Content Slide_White_with color logo</vt:lpstr>
      <vt:lpstr>Targeted Interventions – Detailed View</vt:lpstr>
      <vt:lpstr>AREA 1 – S1 - Sponsorship Opportunity Matrix</vt:lpstr>
      <vt:lpstr>AREA 1 – S2 - Proposal Development Automation Engine</vt:lpstr>
      <vt:lpstr>AREA 1 – S3 - Conflict Intelligence Engine</vt:lpstr>
      <vt:lpstr>AREA 1 – S4 - Brand Intelligence &amp; Prospect Discovery Engine</vt:lpstr>
      <vt:lpstr>AREA 1 – S5 - Sponsor Onboarding &amp; Handover Toolkit</vt:lpstr>
      <vt:lpstr>AREA 2 – S1 - Sponsorship Activation &amp; Feedback Hub</vt:lpstr>
      <vt:lpstr>AREA 2 – S2 - Partner Rights &amp; Asset Manager</vt:lpstr>
      <vt:lpstr>AREA 2 – S3 - Sponsor Ticket &amp; Experience Allocator</vt:lpstr>
      <vt:lpstr>AREA 2 – S4 - Auto-Linked Sponsor Invoicing Engine</vt:lpstr>
      <vt:lpstr>AREA 3 – S1 - Guest Journey &amp; Activation Orchestrator</vt:lpstr>
      <vt:lpstr>AREA 3 – S2 - Centralized Ticketing &amp; Allocation Console</vt:lpstr>
      <vt:lpstr>AREA 3 – S3 - Activation &amp; Inventory Execution Hub</vt:lpstr>
      <vt:lpstr>AREA 3 – S4 - Feedback Capture &amp; Engagement Insight Engine</vt:lpstr>
      <vt:lpstr>AREA 3 – S5 - Hospitality Suite Configurator</vt:lpstr>
      <vt:lpstr>AREA 4 – S1 - PR Calendar &amp; Interview Manager</vt:lpstr>
      <vt:lpstr>AREA 4 – S2 - Race Event Monitoring &amp; Commentary Tracker</vt:lpstr>
      <vt:lpstr>AREA 4 – S3 - Interview &amp; Quote Intelligence Engine</vt:lpstr>
      <vt:lpstr>AREA 4 – S4 - PR Commentary &amp; Race Event Monitoring Engine</vt:lpstr>
      <vt:lpstr>AREA 4 – S5 - Content Reuse &amp; Distribution Console</vt:lpstr>
      <vt:lpstr>AREA 5 – S1 - Contract Lifecycle &amp; Obligation Tracker</vt:lpstr>
      <vt:lpstr>AREA 5 – S2 - Regulatory Intelligence &amp; Appeal Assistant</vt:lpstr>
      <vt:lpstr>AREA 5 – S3 - Partner Conduct Logging &amp; Compliance Dashboard</vt:lpstr>
      <vt:lpstr>AREA 5 – S4 – Legal Intelligence Engine</vt:lpstr>
      <vt:lpstr>AREA 6 – S1 – Centralized Budget &amp; Forecast Console</vt:lpstr>
      <vt:lpstr>AREA 6 – S2 – Vendor Spend Tracker &amp; Reconciliation Engine</vt:lpstr>
      <vt:lpstr>AREA 6 – S3 – Race Calendar-Aligned Spend Planner</vt:lpstr>
      <vt:lpstr>AREA 6 – S4 – Dynamic Financial Dashboard Layer</vt:lpstr>
      <vt:lpstr>AREA 7 – S1 – Creative Asset Tracker &amp; Approval Console</vt:lpstr>
      <vt:lpstr>AREA 7 – S2 – Garage Layout Validator &amp; Placement Tool</vt:lpstr>
      <vt:lpstr>AREA 7 – S3 – Component Inventory &amp; Movement Tracker</vt:lpstr>
      <vt:lpstr>AREA 7 – S4 – Reuse Audit &amp; Teardown Dashboard</vt:lpstr>
      <vt:lpstr>AREA 8 – S1 – Centralized Travel &amp; Movement Tracker</vt:lpstr>
      <vt:lpstr>AREA 8 – S2 – Digital Run Sheet &amp; Live Scheduling Engine</vt:lpstr>
      <vt:lpstr>AREA 8 – S3 – Setup &amp; Logistics Window Manager</vt:lpstr>
      <vt:lpstr>AREA 8 – S4 – Event-Day Incident Replanner</vt:lpstr>
      <vt:lpstr>AREA 8 – S5 – Team Protocol &amp; Briefing Compliance Tool</vt:lpstr>
      <vt:lpstr>AREA 9 – S1 – Creative Workflow Orchestrator</vt:lpstr>
      <vt:lpstr>AREA 9 – S2 – Smart Logo &amp; Asset Validator</vt:lpstr>
      <vt:lpstr>AREA 9 – S3 – Asset Intelligence Hub (AI-Tag + Search + Deduplication)</vt:lpstr>
      <vt:lpstr>AREA 9 – S4 – Post-Race Media Optimizer</vt:lpstr>
      <vt:lpstr>AREA 10 – S1 – Guest Journey &amp; Activation Orchestrator</vt:lpstr>
      <vt:lpstr>AREA 10 – S2 – Centralized Ticketing &amp; Allocation Console</vt:lpstr>
      <vt:lpstr>AREA 10 – S3 – Activation &amp; Inventory Execution Hub</vt:lpstr>
      <vt:lpstr>AREA 10 – S4 – Feedback Capture &amp; Engagement Insight Engine</vt:lpstr>
      <vt:lpstr>AREA 11 – S1 – Merchandise &amp; Campaign Planner</vt:lpstr>
      <vt:lpstr>AREA 11 – S2 – Inventory Visibility &amp; Movement Tracker</vt:lpstr>
      <vt:lpstr>AREA 11 – S3 – Unified Sales &amp; Analytics Hub</vt:lpstr>
      <vt:lpstr>AREA 11 – S4 – E-Com Experience Enhancer</vt:lpstr>
      <vt:lpstr>AREA 12 – S1 – Digital Content Publishing Orchestrator</vt:lpstr>
      <vt:lpstr>AREA 12 – S2 – Social Asset Intelligence Layer</vt:lpstr>
      <vt:lpstr>AREA 12 – S3 – Engagement &amp; Moderation Intelligence Console</vt:lpstr>
      <vt:lpstr>AREA 12 – S4 – Digital Fan Interaction &amp; Sentiment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Arindam Ghosh</dc:creator>
  <cp:lastModifiedBy>Dr Arindam Ghosh</cp:lastModifiedBy>
  <cp:revision>1</cp:revision>
  <dcterms:created xsi:type="dcterms:W3CDTF">2025-07-29T12:20:09Z</dcterms:created>
  <dcterms:modified xsi:type="dcterms:W3CDTF">2025-07-29T14:12:55Z</dcterms:modified>
</cp:coreProperties>
</file>